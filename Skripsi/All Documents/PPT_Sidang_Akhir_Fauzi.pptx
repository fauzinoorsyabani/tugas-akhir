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88952" cy="6400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34840"/>
            <a:ext cx="12188952" cy="6400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D600"/>
                </a:solidFill>
              </a:rPr>
              <a:t>SIDANG AKHIR TUGAS AKHIR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72591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Visual Analytics for Higher Education
Capacity Planning:
A Business Intelligence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FD600"/>
                </a:solidFill>
              </a:rPr>
              <a:t>(Studi Kasus: Universitas Siliwangi)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Fauzi Noorsyabani
NPM: 227007042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1188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F5F5"/>
                </a:solidFill>
              </a:rPr>
              <a:t>Program Studi Sistem Informasi
Fakultas Teknik — Universitas Siliwangi
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600"/>
                </a:solidFill>
              </a:rPr>
              <a:t>Pembimbing I: Dr. Ir. Acep Irham Gufroni, S.Kom., M.Eng., IPM., ASEAN Eng.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92040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600"/>
                </a:solidFill>
              </a:rPr>
              <a:t>Pembimbing II: Ir. Andi Nur Rachman, M.T.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Agenda Presentasi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D600"/>
                </a:solidFill>
              </a:rPr>
              <a:t>Sidang Akhir — Tugas Akhir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577840" cy="1234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D600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664208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Latar Belakang &amp; Rumusan Masalah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463040"/>
            <a:ext cx="5577840" cy="1234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5544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D600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664208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Metodologi — Business Intelligence Roadmap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26080"/>
            <a:ext cx="5577840" cy="1234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175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D600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127248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⭐ Respons Revisi Seminar Hasil (7 Poin)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926080"/>
            <a:ext cx="5577840" cy="1234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30175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D600"/>
                </a:solidFill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127248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Hasil Penelitian &amp; Dashboard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389120"/>
            <a:ext cx="5577840" cy="1234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4805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D600"/>
                </a:solidFill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590288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Analisis &amp; Pembahasan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389120"/>
            <a:ext cx="5577840" cy="1234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4805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D600"/>
                </a:solidFill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590288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Kesimpulan &amp; Saran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Fauzi Noorsyabani — 227007042 | Sistem Informasi UNSIL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12880" y="659282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D600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Latar Belakang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D600"/>
                </a:solidFill>
              </a:rPr>
              <a:t>Kondisi → Masalah → Solusi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325880"/>
            <a:ext cx="2834640" cy="4114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5331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ISU UMUM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737360"/>
            <a:ext cx="283464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" y="1828800"/>
            <a:ext cx="261518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Penjaminan mutu PT menuntut pengelolaan kapasitas akademik terukur
melalui rasio dosen terhadap mahasiswa sebagai indikator kecukupan.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65176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5E20"/>
                </a:solidFill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325880"/>
            <a:ext cx="2834640" cy="411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35331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MASALAH NYATA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737360"/>
            <a:ext cx="283464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0128" y="1828800"/>
            <a:ext cx="261518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Data PDDikti saat ini disajikan secara STATIS &amp; DESKRIPTIF.
Pimpinan institusi kesulitan menganalisis tren maupun disparitas antarprodi.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65176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5E20"/>
                </a:solidFill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325880"/>
            <a:ext cx="2834640" cy="4114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35331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CELAH / GAP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737360"/>
            <a:ext cx="283464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1928" y="1828800"/>
            <a:ext cx="261518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Belum ada sistem yang mengonversi data PDDikti menjadi informasi
analitik interaktif yang mendukung Decision Support System (DSS).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65176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5E20"/>
                </a:solidFill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1325880"/>
            <a:ext cx="2834640" cy="4114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135331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SOLUSI PENELITIAN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1737360"/>
            <a:ext cx="283464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53728" y="1828800"/>
            <a:ext cx="261518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Implementasi Business Intelligence berbasis Data Warehouse
dengan dashboard analitik Google Looker Studio.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4617720"/>
            <a:ext cx="11731752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64515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0"/>
                </a:solidFill>
              </a:rPr>
              <a:t>Dasar Regulasi: Permendikbud No. 3 Tahun 2020 — Batas rasio 1:30 (Saintek) dan 1:45 (Soshum)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Fauzi Noorsyabani — 227007042 | Sistem Informasi UNSIL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12880" y="659282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D600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Rumusan Masalah, Tujuan &amp; Batasan Penelitian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D600"/>
                </a:solidFill>
              </a:rPr>
              <a:t>Kesesuaian (benang merah) antara RM → Tujuan → Kesimpulan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325880"/>
            <a:ext cx="3794760" cy="43891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53312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RUMUSAN MASALAH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764792"/>
            <a:ext cx="379476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874519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1. Bagaimana kondisi kapasitas akademik UNSIL berdasarkan tren rasio dosen-mahasiswa per prodi secara longitudinal?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97479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2. Bagaimana sistem BI berbasis data warehouse mendukung Decision Support System (DSS) secara terstruktur?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325880"/>
            <a:ext cx="3794760" cy="43891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79" y="1353312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TUJUAN PENELITIAN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764792"/>
            <a:ext cx="379476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874519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1. Menganalisis tren rasio dosen-mahasiswa per prodi di UNSIL secara longitudinal menggunakan data agregat PDDikti.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697479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2. Mengembangkan sistem BI berbasis data warehouse &amp; dashboard analitik sebagai DSS bagi pimpinan UNSIL.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325880"/>
            <a:ext cx="3794760" cy="43891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1353312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BATASAN MASALAH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1764792"/>
            <a:ext cx="379476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874519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▪ Data: Agregat PDDikti 5 semester (Ganjil 2023 – Ganjil 2025)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56032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▪ Variabel: Jumlah mahasiswa aktif &amp; dosen tetap → rasio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24612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▪ Tidak mencakup analisis prediktif maupun data personal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93192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▪ Fokus pada visualisasi informasi untuk mendukung DSS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Fauzi Noorsyabani — 227007042 | Sistem Informasi UNSIL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12880" y="659282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D600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Metodologi: Business Intelligence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D600"/>
                </a:solidFill>
              </a:rPr>
              <a:t>Moss &amp; Atre (2003) — 6 Fase yang Dipetakan ke Proses Penelitian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417320"/>
            <a:ext cx="3749039" cy="21031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90472"/>
            <a:ext cx="457200" cy="4572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490472"/>
            <a:ext cx="4023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5E20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08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Justifikasi BI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011680"/>
            <a:ext cx="35661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075688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Identifikasi masalah data statis PDDikti; analisis kebutuhan pimpinan UNSIL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417320"/>
            <a:ext cx="3749039" cy="21031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1490472"/>
            <a:ext cx="457200" cy="4572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5112" y="1490472"/>
            <a:ext cx="4023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5E20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508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Perencanaan &amp; Analisis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79" y="2011680"/>
            <a:ext cx="35661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075688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Penetapan ruang lingkup, indikator rasio, &amp; atribut data PDDikti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1417320"/>
            <a:ext cx="3749039" cy="21031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75319" y="1490472"/>
            <a:ext cx="457200" cy="4572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1490472"/>
            <a:ext cx="4023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5E20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59" y="1508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Desain Data Warehouse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19" y="2011680"/>
            <a:ext cx="35661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59" y="2075688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Perancangan Star Schema: 1 Fact Table + 3 Dimension Table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3749039"/>
            <a:ext cx="3749039" cy="2103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822191"/>
            <a:ext cx="457200" cy="4572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3822191"/>
            <a:ext cx="4023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5E20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84047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ETL (Extract-Transform-Load)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343400"/>
            <a:ext cx="35661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4407407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Pengunduhan data PDDikti → pembersihan → 201 rekaman bersih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3749039"/>
            <a:ext cx="3749039" cy="2103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97679" y="3822191"/>
            <a:ext cx="457200" cy="4572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25112" y="3822191"/>
            <a:ext cx="4023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5E20"/>
                </a:solidFill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384047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Pengembangan Dashboard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79" y="4343400"/>
            <a:ext cx="35661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0" y="4407407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Visualisasi interaktif Google Looker Studio dengan filter Fakultas/Rumpun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83879" y="3749039"/>
            <a:ext cx="3749039" cy="2103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75319" y="3822191"/>
            <a:ext cx="457200" cy="4572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02752" y="3822191"/>
            <a:ext cx="4023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5E20"/>
                </a:solidFill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23959" y="384047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Penyebaran &amp; Analisis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75319" y="4343400"/>
            <a:ext cx="35661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66759" y="4407407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Validasi data, analisis tren longitudinal, temuan disparitas Sains vs Sosial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Fauzi Noorsyabani — 227007042 | Sistem Informasi UNSIL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612880" y="659282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D600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Arsitektur Sistem — Alur Data End-to-End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D600"/>
                </a:solidFill>
              </a:rPr>
              <a:t>PDDikti → ETL → Data Warehouse → Dashboard Looker Studio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417320"/>
            <a:ext cx="2148840" cy="5943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44752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SUMBER DATA
PDDikti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011680"/>
            <a:ext cx="21488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103120"/>
            <a:ext cx="1965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Data agregat per prodi
5 semester
(Ganjil 2023 – Ganjil 2025)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468880"/>
            <a:ext cx="21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5E20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42032" y="1417320"/>
            <a:ext cx="2148840" cy="5943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444752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ETL
run_etl.py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2011680"/>
            <a:ext cx="21488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3472" y="2103120"/>
            <a:ext cx="1965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Extract → Transform
→ Load
201 rekaman bersih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2468880"/>
            <a:ext cx="21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5E20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01184" y="1417320"/>
            <a:ext cx="2148840" cy="5943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92624" y="1444752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DATA WAREHOUSE
Star Schema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01184" y="2011680"/>
            <a:ext cx="21488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92624" y="2103120"/>
            <a:ext cx="1965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1 Fact Table
3 Dimension Tables
20 kolom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0024" y="2468880"/>
            <a:ext cx="21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5E20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60336" y="1417320"/>
            <a:ext cx="2148840" cy="594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51776" y="1444752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GOOGLE SHEETS
master_looker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0336" y="2011680"/>
            <a:ext cx="21488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51776" y="2103120"/>
            <a:ext cx="1965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Single Version
of Truth (SVOT)
Auto-refresh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9176" y="2468880"/>
            <a:ext cx="21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5E20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19488" y="1417320"/>
            <a:ext cx="2148840" cy="5943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10928" y="1444752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LOOKER STUDIO
Dashboard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19488" y="2011680"/>
            <a:ext cx="21488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10928" y="2103120"/>
            <a:ext cx="1965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3 halaman
Drill-down
Filter Fakultas/Rumpun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" y="4251960"/>
            <a:ext cx="11823192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279392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0"/>
                </a:solidFill>
              </a:rPr>
              <a:t>Output: 201 rekaman bersih | 20 kolom (termasuk Fakultas &amp; Rumpun Ilmu) | Konsistensi DW ↔ Dashboard: tidak ada perbedaan nilai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Fauzi Noorsyabani — 227007042 | Sistem Informasi UNSIL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12880" y="659282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D600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7315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0" y="914400"/>
            <a:ext cx="1581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D600"/>
                </a:solidFill>
              </a:rPr>
              <a:t>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RESPONS TERHADAP
REVISI SEMINAR HASIL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FD600"/>
                </a:solidFill>
              </a:rPr>
              <a:t>7 Poin Revisi yang Telah Diperbaiki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F5F5"/>
                </a:solidFill>
              </a:rPr>
              <a:t>Poin revisi bersumber dari Catatan Dosen Penguji pada Seminar Hasil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Revisi Poin 1 &amp; 2: Star Schema &amp; Penelitian Terdahulu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D600"/>
                </a:solidFill>
              </a:rPr>
              <a:t>Mengapa Star Schema? Bagaimana kaitannya dengan riset terdahulu?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325880"/>
            <a:ext cx="5669280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441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POIN 1 — Alasan Pemilihan Star Schema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709928"/>
            <a:ext cx="56692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8288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① Meminimalkan operasi JOIN → query analytics lebih cepat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30428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② Struktur intuitif (fact + dimension) → mudah dipahami non-teknis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779776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③ Kompatibel langsung dengan Google Looker Studio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255264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④ Lebih efisien untuk skala data ini vs. Snowflake Schema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5742432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34416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POIN 2 — Kaitan dengan Penelitian Terdahulu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737360"/>
            <a:ext cx="574243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783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Susanto &amp; Hidayati (2022)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084831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PTN sering terlihat sehat di agregat namun
mengalami ketimpangan ekstrem di level prodi. ✓ SEJALAN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715768"/>
            <a:ext cx="574243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761487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Setiawan dkk. (2023)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063239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Prodi favorit (pendidikan &amp; ekonomi) cenderung
memiliki beban dosen tertinggi. ✓ SEJALAN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694176"/>
            <a:ext cx="574243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73989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Sharma &amp; Joshi (2022)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04164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Dashboard visual interaktif mempercepat
identifikasi anomali data. ✓ SEJALAN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Fauzi Noorsyabani — 227007042 | Sistem Informasi UNSIL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12880" y="659282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D600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Revisi Poin 3: Validasi Data — Sebelum/Sesudah ETL &amp; Antar Semester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D600"/>
                </a:solidFill>
              </a:rPr>
              <a:t>Pembuktian kualitas dan konsistensi data warehouse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325880"/>
            <a:ext cx="5577840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4416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Tabel 1: Sebelum vs Sesudah ETL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737360"/>
            <a:ext cx="3749039" cy="36576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77639" y="1737360"/>
            <a:ext cx="1828800" cy="36576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7830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Kondisi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783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Jumlah Baris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121408"/>
            <a:ext cx="3749039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77639" y="2121408"/>
            <a:ext cx="182880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167127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Data mentah PDDikti (5 semester)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2167127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</a:rPr>
              <a:t>210 baris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505456"/>
            <a:ext cx="3749039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77639" y="2505456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551175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Setelah proses Drop Null &amp; Duplikat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2551175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</a:rPr>
              <a:t>201 baris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2889503"/>
            <a:ext cx="3749039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977639" y="2889503"/>
            <a:ext cx="182880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2935223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Data tidak valid / dibuang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2935223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</a:rPr>
              <a:t>9 baris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3273551"/>
            <a:ext cx="3749039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977639" y="3273551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319271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Konsistensi DW ↔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80" y="3319271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12121"/>
                </a:solidFill>
              </a:rPr>
              <a:t>Tidak ada perbedaan nilai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1325880"/>
            <a:ext cx="5742432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134416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Tabel 2: Validasi Antar Semester Ganjil vs Genap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1737360"/>
            <a:ext cx="2286000" cy="402336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91072" y="179222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Pasangan Semester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1737360"/>
            <a:ext cx="1645920" cy="402336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77072" y="1792224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Prodi Divalidasi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149840" y="1737360"/>
            <a:ext cx="1645920" cy="402336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22992" y="1792224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Temuan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2148840"/>
            <a:ext cx="228600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91072" y="220370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12121"/>
                </a:solidFill>
              </a:rPr>
              <a:t>Ganjil 2023 – Genap 2023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0" y="2148840"/>
            <a:ext cx="164592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77072" y="2203704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12121"/>
                </a:solidFill>
              </a:rPr>
              <a:t>35 prodi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149840" y="2148840"/>
            <a:ext cx="164592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22992" y="2203704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12121"/>
                </a:solidFill>
              </a:rPr>
              <a:t>Wajar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2560320"/>
            <a:ext cx="2286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1072" y="261518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12121"/>
                </a:solidFill>
              </a:rPr>
              <a:t>Ganjil 2024 – Genap 2024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03920" y="2560320"/>
            <a:ext cx="16459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77072" y="2615184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12121"/>
                </a:solidFill>
              </a:rPr>
              <a:t>35 prodi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149840" y="2560320"/>
            <a:ext cx="16459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222992" y="2615184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12121"/>
                </a:solidFill>
              </a:rPr>
              <a:t>Wajar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2971800"/>
            <a:ext cx="228600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91072" y="302666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12121"/>
                </a:solidFill>
              </a:rPr>
              <a:t>Anomali teridentifikasi: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03920" y="2971800"/>
            <a:ext cx="164592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77072" y="3026664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12121"/>
                </a:solidFill>
              </a:rPr>
              <a:t>PPG Dalam Jabatan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149840" y="2971800"/>
            <a:ext cx="164592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222992" y="3026664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12121"/>
                </a:solidFill>
              </a:rPr>
              <a:t>Wajar*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17920" y="3429000"/>
            <a:ext cx="574243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09360" y="347472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12121"/>
                </a:solidFill>
              </a:rPr>
              <a:t>*PPG Dalam Jabatan: deviasi besar antara Ganjil–Genap bersifat wajar karena program ini tidak beroperasi setiap semester.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Fauzi Noorsyabani — 227007042 | Sistem Informasi UNSIL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612880" y="659282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D600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Revisi Poin 5 &amp; 6: Filter Fakultas/Rumpun &amp; Analisis Sains vs Sosial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D600"/>
                </a:solidFill>
              </a:rPr>
              <a:t>Fitur baru dashboard + temuan perbedaan beban rasio antarrumpun ilmu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325880"/>
            <a:ext cx="5577840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4416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POIN 5 — Filter Baru: Per Fakultas &amp; Per Rumpun Ilmu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709928"/>
            <a:ext cx="55778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8288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▪ Kolom 'fakultas' &amp; 'rumpun_ilmu' ditambahkan via Dictionary Mapping di ETL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20370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▪ Fitur filter terintegrasi di halaman 1 dashboard Looker Studio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5786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▪ Memungkinkan pimpinan menganalisis kapasitas per unit organisasi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5742432" cy="38404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34416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POIN 6 — Analisis Rasio: Rumpun Sains vs Sosial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737360"/>
            <a:ext cx="2103120" cy="40233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1801368"/>
            <a:ext cx="19933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Rumpun Ilmu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1737360"/>
            <a:ext cx="2194560" cy="40233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1801368"/>
            <a:ext cx="20848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Batas Regulasi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15600" y="1737360"/>
            <a:ext cx="1280160" cy="40233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88752" y="1801368"/>
            <a:ext cx="11704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Temuan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148840"/>
            <a:ext cx="210312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2212848"/>
            <a:ext cx="19933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12121"/>
                </a:solidFill>
              </a:rPr>
              <a:t>Sains / Saintek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2148840"/>
            <a:ext cx="219456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94192" y="2212848"/>
            <a:ext cx="20848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12121"/>
                </a:solidFill>
              </a:rPr>
              <a:t>1:30 (Permendikbud 3/2020)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15600" y="2148840"/>
            <a:ext cx="128016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88752" y="2212848"/>
            <a:ext cx="11704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12121"/>
                </a:solidFill>
              </a:rPr>
              <a:t>Dalam batas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560320"/>
            <a:ext cx="21031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1072" y="2624328"/>
            <a:ext cx="19933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12121"/>
                </a:solidFill>
              </a:rPr>
              <a:t>Sosial / Soshum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40" y="2560320"/>
            <a:ext cx="21945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94192" y="2624328"/>
            <a:ext cx="20848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12121"/>
                </a:solidFill>
              </a:rPr>
              <a:t>1:45 (Permendikbud 3/2020)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515600" y="2560320"/>
            <a:ext cx="1280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88752" y="2624328"/>
            <a:ext cx="11704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12121"/>
                </a:solidFill>
              </a:rPr>
              <a:t>3 prodi melampaui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2971800"/>
            <a:ext cx="210312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91072" y="3035808"/>
            <a:ext cx="19933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12121"/>
                </a:solidFill>
              </a:rPr>
              <a:t>Rata-rata Sains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2971800"/>
            <a:ext cx="219456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94192" y="3035808"/>
            <a:ext cx="20848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12121"/>
                </a:solidFill>
              </a:rPr>
              <a:t>~18-22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515600" y="2971800"/>
            <a:ext cx="128016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88752" y="3035808"/>
            <a:ext cx="11704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12121"/>
                </a:solidFill>
              </a:rPr>
              <a:t>Lebih rendah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3383280"/>
            <a:ext cx="21031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91072" y="3447288"/>
            <a:ext cx="19933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12121"/>
                </a:solidFill>
              </a:rPr>
              <a:t>Rata-rata Sosial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21040" y="3383280"/>
            <a:ext cx="21945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94192" y="3447288"/>
            <a:ext cx="20848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12121"/>
                </a:solidFill>
              </a:rPr>
              <a:t>~28-35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515600" y="3383280"/>
            <a:ext cx="1280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88752" y="3447288"/>
            <a:ext cx="11704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12121"/>
                </a:solidFill>
              </a:rPr>
              <a:t>Lebih tinggi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" y="3154680"/>
            <a:ext cx="11731752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318211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D600"/>
                </a:solidFill>
              </a:rPr>
              <a:t>3 Prodi Melampaui Batas Soshum (1:45) di Ganjil 2025: Pendidikan Sejarah (1:54.0) | Pendidikan Masyarakat (1:50.9) | Akuntansi (1:45.7)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Fauzi Noorsyabani — 227007042 | Sistem Informasi UNSIL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612880" y="659282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D600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Revisi Poin 4 &amp; 7: Perbaikan Laporan &amp; Keterbatasan Penelitian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D600"/>
                </a:solidFill>
              </a:rPr>
              <a:t>Penyusunan ulang naskah &amp; identifikasi celah untuk penelitian selanjutnya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325880"/>
            <a:ext cx="557784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4416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POIN 4 — Perbaikan Penyusunan Laporan Skripsi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709928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8288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✓ Penambahan narasi pengantar &amp; interpretasi setiap gambar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1945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✓ Penyeragaman angka data warehouse: 201 rekaman (bukan 202)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5603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✓ Penyusunan ulang alur penulisan BAB IV &amp; BAB 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926079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✓ Penyesuaian bahasa akademik (menghilangkan kata klaim)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291839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✓ Konsistensi terminologi di seluruh bab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325880"/>
            <a:ext cx="5742432" cy="38404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34416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POIN 7 — Keterbatasan &amp; Saran Penelitian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737360"/>
            <a:ext cx="5742432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78308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KETERBATASAN: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103120"/>
            <a:ext cx="5742432" cy="1243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14883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▪ Data terbatas pada format agregat (bukan data individual)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51459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▪ Belum mencakup analisis prediktif / forecasting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88035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▪ Pengujian formal kepada pengguna akhir belum dilakukan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310127"/>
            <a:ext cx="5742432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355847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SARAN: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675887"/>
            <a:ext cx="5742432" cy="1243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3721607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▪ Tambahkan fitur notifikasi otomatis saat rasio mendekati batas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0873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▪ Integrasikan dengan SIAKAD internal UNSIL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4531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▪ Kembangkan ke seluruh PTN BLU Jawa Barat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Fauzi Noorsyabani — 227007042 | Sistem Informasi UNSIL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12880" y="659282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D600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Hasil 1: Data Warehouse — Star Schema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D600"/>
                </a:solidFill>
              </a:rPr>
              <a:t>Struktur data warehouse yang mendukung analisis multidimensi BI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2743200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201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65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Rekaman Bersih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325880"/>
            <a:ext cx="2743200" cy="10515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3716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965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Kolom / Atribut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325880"/>
            <a:ext cx="2743200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3716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965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Fact Table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1325880"/>
            <a:ext cx="2743200" cy="10515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3716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965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Dimension Tables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560320"/>
            <a:ext cx="11640312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0" y="3200400"/>
            <a:ext cx="39593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3246120"/>
            <a:ext cx="37764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FACT TABLE
Fact_Kapasitas_Pendidikan
(201 baris, 8 kolom kunci &amp; metrik)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200400"/>
            <a:ext cx="3291840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2918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DIM_Prodi
(prodi, jenjang,
fakultas, rumpun)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3611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5E20"/>
                </a:solidFill>
              </a:rPr>
              <a:t>───────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663440"/>
            <a:ext cx="3291840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754879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DIM_Periode
(tahun, semester,
tahun_pelaporan)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5074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5E20"/>
                </a:solidFill>
              </a:rPr>
              <a:t>───────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3200400"/>
            <a:ext cx="3291840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0" y="32918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DIM_Institusi
(kode PT,
nama institusi)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3611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5E20"/>
                </a:solidFill>
              </a:rPr>
              <a:t>───────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Fauzi Noorsyabani — 227007042 | Sistem Informasi UNSIL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612880" y="659282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D600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Hasil 2: Dashboard — Halaman 1 Ringkasan Eksekutif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D600"/>
                </a:solidFill>
              </a:rPr>
              <a:t>4 KPI Scorecard + Grafik Rasio Institusi + Distribusi Prodi per Jenjang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325880"/>
            <a:ext cx="11731752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325880"/>
            <a:ext cx="11731752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37160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D600"/>
                </a:solidFill>
              </a:rPr>
              <a:t>[ Halaman 1: Ringkasan Eksekutif — Screenshot dari Google Looker Studio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5F5F5"/>
                </a:solidFill>
              </a:rPr>
              <a:t>→ Sisipkan Screenshot Dashboard Header Hijau di sini 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5943600"/>
            <a:ext cx="11731752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59710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D600"/>
                </a:solidFill>
              </a:rPr>
              <a:t>💡 Insight: Rata-rata rasio institusi 22.8–24.9 (aman), namun tersimpan disparitas pada level program studi.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Fauzi Noorsyabani — 227007042 | Sistem Informasi UNSIL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0" y="659282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D600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Hasil 3: Dashboard — Halaman 2 &amp;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D600"/>
                </a:solidFill>
              </a:rPr>
              <a:t>Analisis Komparatif Program Studi &amp; Pemantauan Tren Longitudinal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325880"/>
            <a:ext cx="576072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5331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Halaman 2: Analisis Komparatif Program Studi
(Heatmap Rasio per Prodi &amp; Semester)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709928"/>
            <a:ext cx="5760720" cy="3520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92608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5F5F5"/>
                </a:solidFill>
              </a:rPr>
              <a:t>→ Screenshot Dashboard Halaman 2 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5230368"/>
            <a:ext cx="5760720" cy="4114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525780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600"/>
                </a:solidFill>
              </a:rPr>
              <a:t>💡 Identifikasi 3 zona merah (prodi melebihi batas) &amp; 6 zona waspada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325880"/>
            <a:ext cx="5760720" cy="38404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79" y="135331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Halaman 3: Pemantauan Tren Longitudinal
(Tren Rasio 5 Semester)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709928"/>
            <a:ext cx="5760720" cy="3520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59" y="292608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5F5F5"/>
                </a:solidFill>
              </a:rPr>
              <a:t>→ Screenshot Dashboard Halaman 3 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5230368"/>
            <a:ext cx="5760720" cy="4114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79" y="525780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600"/>
                </a:solidFill>
              </a:rPr>
              <a:t>💡 Tren rasio Pend. Masyarakat konsisten melampaui batas pada 3 dari 5 periode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Fauzi Noorsyabani — 227007042 | Sistem Informasi UNSIL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0" y="659282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D600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Hasil 4: Heatmap Rasio — Identifikasi Zona Kritis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D600"/>
                </a:solidFill>
              </a:rPr>
              <a:t>Merah = Melampaui Batas | Kuning = Zona Waspada | Hijau = Aman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325880"/>
            <a:ext cx="77724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320040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5F5F5"/>
                </a:solidFill>
              </a:rPr>
              <a:t>→ Sisipkan Gambar Heatmap Python (Outputs/Visualizations/) di sini ←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325880"/>
            <a:ext cx="3730752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353312"/>
            <a:ext cx="3547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LEGENDA &amp; TEMUAN KUNCI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737360"/>
            <a:ext cx="3730752" cy="12801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9327" y="1810512"/>
            <a:ext cx="3520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MERAH — Melampaui batas regulasi
Pend. Sejarah: 1:54.0
Pend. Masyarakat: 1:50.9
Akuntansi: 1:45.7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3081528"/>
            <a:ext cx="3730752" cy="128016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3154680"/>
            <a:ext cx="3520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KUNING — Zona Waspada (35–45)
Ilmu Politik: 1:44.0
Pend. Ekonomi: 1:42.2
+ 4 prodi lainnya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4425696"/>
            <a:ext cx="3730752" cy="128016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7" y="4498848"/>
            <a:ext cx="3520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HIJAU — Rasio Aman (&lt;30)
Mayoritas prodi rumpun Saintek
&amp; prodi baru / pascasarjana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Fauzi Noorsyabani — 227007042 | Sistem Informasi UNSIL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0" y="659282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D600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Analisis &amp; Pembahasan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D600"/>
                </a:solidFill>
              </a:rPr>
              <a:t>Penjawaban Rumusan Masalah berdasarkan temuan penelitian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325880"/>
            <a:ext cx="11731752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6245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RQ 1 — Kondisi Kapasitas Akademik UNSIL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709928"/>
            <a:ext cx="11731752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8288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▪ Rasio agregat institusi: 22.8 – 24.9 (5 semester), berada di bawah batas Soshum (1:45)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185416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▪ Namun terdapat disparitas struktural di level program studi: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5420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   → 3 prodi melampaui batas 1:45 di Ganjil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89864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   → 6 prodi berada dalam zona waspada (rasio 35–45)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255264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▪ Pend. Masyarakat melampaui batas pada 3 dari 5 periode → indikasi masalah struktural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3931920"/>
            <a:ext cx="11731752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396849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RQ 2 — Sistem BI sebagai Pendukung DSS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4315968"/>
            <a:ext cx="11731752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4348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▪ ETL berhasil mengonsolidasikan data statis PDDikti menjadi DW terstruktur (201 rekaman)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791455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▪ Dashboard interaktif memungkinkan drill-down mandiri tanpa keahlian teknis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148071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▪ Filter Fakultas &amp; Rumpun Ilmu: mendukung pengambilan keputusan berbasis unit organisasi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504687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▪ Konsep SVOT (Single Version of Truth): seluruh pemangku kepentingan akses sumber sama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861303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▪ Tidak ada perbedaan nilai antara DW dan dashboard → data terpercaya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Fauzi Noorsyabani — 227007042 | Sistem Informasi UNSIL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12880" y="659282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D600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Kesimpulan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D600"/>
                </a:solidFill>
              </a:rPr>
              <a:t>Dua kesimpulan selaras dengan dua Rumusan Masalah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325880"/>
            <a:ext cx="11731752" cy="4114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325880"/>
            <a:ext cx="640080" cy="41148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1362456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5E20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37160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Kondisi Kapasitas Akademik UNSIL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737360"/>
            <a:ext cx="11731752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828800"/>
            <a:ext cx="11430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Secara agregat, rasio dosen terhadap mahasiswa di Universitas Siliwangi berada pada rentang 22.8 – 24.9 selama lima periode pelaporan, di bawah ambang batas DIKTI. Namun, analisis drill-down mengungkap disparitas struktural: tiga program studi rumpun sosial (Pendidikan Sejarah, Pendidikan Masyarakat, Akuntansi) melampaui batas rasio 1:45 pada Ganjil 2025, dan disparitas beban mengajar antara rumpun sains dan sosial teridentifikasi.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3840480"/>
            <a:ext cx="11731752" cy="411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3840480"/>
            <a:ext cx="640080" cy="41148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" y="3877056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5E20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88620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Sistem BI sebagai DSS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4251960"/>
            <a:ext cx="11731752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343400"/>
            <a:ext cx="11430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Sistem Business Intelligence berbasis data warehouse (star schema, 201 rekaman bersih, 20 kolom) dengan dashboard analitik interaktif Google Looker Studio mengonversi data statis PDDikti menjadi informasi terpusat dan real-time. Fitur drill-down dan filter per Fakultas &amp; Rumpun Ilmu memungkinkan pimpinan mengidentifikasi anomali kapasitas akademik yang tersembunyi di balik angka agregat, mendukung pengambilan keputusan berbasis data secara mandiri.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Fauzi Noorsyabani — 227007042 | Sistem Informasi UNSIL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0" y="659282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D600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88952" cy="7315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Terima Kasih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600"/>
                </a:solidFill>
              </a:rPr>
              <a:t>Fauzi Noorsyabani — 227007042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5F5F5"/>
                </a:solidFill>
              </a:rPr>
              <a:t>Program Studi Sistem Informasi
Fakultas Teknik — Universitas Siliwangi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D600"/>
                </a:solidFill>
              </a:rPr>
              <a:t>Pembimbing I: Dr. Ir. Acep Irham Gufroni, S.Kom., M.Eng., IPM., ASEAN Eng.
Pembimbing II: Ir. Andi Nur Rachman, M.T.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5F5F5"/>
                </a:solidFill>
              </a:rPr>
              <a:t>"Satu-satunya cara untuk melakukan pekerjaan hebat adalah dengan mencintai apa yang Anda lakukan."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D600"/>
                </a:solidFill>
              </a:rPr>
              <a:t>— Steve Jobs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