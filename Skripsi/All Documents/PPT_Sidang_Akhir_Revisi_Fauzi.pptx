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SIDANG AKHIR TUGAS AKHIR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D54F"/>
                </a:solidFill>
                <a:latin typeface="Segoe UI"/>
              </a:defRPr>
            </a:pPr>
            <a:r>
              <a:t>Paparan Revisi Seminar Hasil &amp; Hasil Perbaikan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IMPLEMENTASI BUSINESS INTELLIGENCE UNTUK ANALISIS</a:t>
            </a:r>
            <a:br/>
            <a:r>
              <a:t>KAPASITAS AKADEMIK UNIVERSITAS SILIWANGI</a:t>
            </a:r>
            <a:br/>
            <a:r>
              <a:t>BERBASIS DATA AGREGAT PDDIKTI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42A5F5"/>
                </a:solidFill>
                <a:latin typeface="Segoe UI"/>
              </a:defRPr>
            </a:pPr>
            <a:r>
              <a:t>Fauzi Noorsyabani — 227007042</a:t>
            </a:r>
          </a:p>
          <a:p>
            <a:pPr algn="ctr">
              <a:spcAft>
                <a:spcPts val="400"/>
              </a:spcAft>
              <a:defRPr sz="800" b="0">
                <a:solidFill>
                  <a:srgbClr val="FFFFFF"/>
                </a:solidFill>
                <a:latin typeface="Segoe UI"/>
              </a:defRPr>
            </a:pPr>
          </a:p>
          <a:p>
            <a:pPr algn="ctr">
              <a:spcAft>
                <a:spcPts val="400"/>
              </a:spcAft>
              <a:defRPr sz="1400" b="0">
                <a:solidFill>
                  <a:srgbClr val="CCCCCC"/>
                </a:solidFill>
                <a:latin typeface="Segoe UI"/>
              </a:defRPr>
            </a:pPr>
            <a:r>
              <a:t>Program Studi Sistem Informasi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CCCCCC"/>
                </a:solidFill>
                <a:latin typeface="Segoe UI"/>
              </a:defRPr>
            </a:pPr>
            <a:r>
              <a:t>Fakultas Teknik — Universitas Siliwangi</a:t>
            </a:r>
          </a:p>
          <a:p>
            <a:pPr algn="ctr">
              <a:spcAft>
                <a:spcPts val="400"/>
              </a:spcAft>
              <a:defRPr sz="800" b="0">
                <a:solidFill>
                  <a:srgbClr val="FFFFFF"/>
                </a:solidFill>
                <a:latin typeface="Segoe UI"/>
              </a:defRPr>
            </a:pPr>
          </a:p>
          <a:p>
            <a:pPr algn="ctr">
              <a:spcAft>
                <a:spcPts val="400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t>Pembimbing I : Dr. Ir. Acep Irham Gufroni, S.Kom., M.Eng., IPM., ASEAN Eng.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t>Pembimbing II: Ir. Andi Nur Rachman, M.T.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Segoe UI"/>
              </a:defRPr>
            </a:pPr>
            <a:r>
              <a:t>Fauzi Noorsyabani — 227007042 | Sistem Informasi UNSIL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  <a:latin typeface="Segoe U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Daftar Revisi Seminar Hasil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10972800" cy="621792"/>
          </a:xfrm>
          <a:prstGeom prst="roundRect">
            <a:avLst/>
          </a:prstGeom>
          <a:solidFill>
            <a:srgbClr val="25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D54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170432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Perbaikan Tabel Star Schema (BAB III &amp; IV)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17043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4CAF50"/>
                </a:solidFill>
                <a:latin typeface="Segoe UI"/>
              </a:defRPr>
            </a:pPr>
            <a:r>
              <a:t>✅ SELESAI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10512"/>
            <a:ext cx="10972800" cy="621792"/>
          </a:xfrm>
          <a:prstGeom prst="roundRect">
            <a:avLst/>
          </a:prstGeom>
          <a:solidFill>
            <a:srgbClr val="25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5623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D54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883664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Penambahan Penelitian Terdahulu &amp; Jurnal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883664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4CAF50"/>
                </a:solidFill>
                <a:latin typeface="Segoe UI"/>
              </a:defRPr>
            </a:pPr>
            <a:r>
              <a:t>✅ SELESAI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523744"/>
            <a:ext cx="10972800" cy="621792"/>
          </a:xfrm>
          <a:prstGeom prst="roundRect">
            <a:avLst/>
          </a:prstGeom>
          <a:solidFill>
            <a:srgbClr val="25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569464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D54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596896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Validasi Data (Sebelum/Sesudah ETL + Antar Semester)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2596896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4CAF50"/>
                </a:solidFill>
                <a:latin typeface="Segoe UI"/>
              </a:defRPr>
            </a:pPr>
            <a:r>
              <a:t>✅ SELESAI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236976"/>
            <a:ext cx="10972800" cy="621792"/>
          </a:xfrm>
          <a:prstGeom prst="roundRect">
            <a:avLst/>
          </a:prstGeom>
          <a:solidFill>
            <a:srgbClr val="25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282696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D54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310128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Perbaikan Penyusunan Laporan (BAB IV &amp; V)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331012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4CAF50"/>
                </a:solidFill>
                <a:latin typeface="Segoe UI"/>
              </a:defRPr>
            </a:pPr>
            <a:r>
              <a:t>✅ SELESAI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950208"/>
            <a:ext cx="10972800" cy="621792"/>
          </a:xfrm>
          <a:prstGeom prst="roundRect">
            <a:avLst/>
          </a:prstGeom>
          <a:solidFill>
            <a:srgbClr val="25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99592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D54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02336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Penambahan Filter Fakultas &amp; Rumpun Ilmu di 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40233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4CAF50"/>
                </a:solidFill>
                <a:latin typeface="Segoe UI"/>
              </a:defRPr>
            </a:pPr>
            <a:r>
              <a:t>✅ SELESAI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663440"/>
            <a:ext cx="10972800" cy="621792"/>
          </a:xfrm>
          <a:prstGeom prst="roundRect">
            <a:avLst/>
          </a:prstGeom>
          <a:solidFill>
            <a:srgbClr val="25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70916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D54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736592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Analisis Rasio Berdasarkan Rumpun Ilmu (Saintek vs Soshum)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473659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4CAF50"/>
                </a:solidFill>
                <a:latin typeface="Segoe UI"/>
              </a:defRPr>
            </a:pPr>
            <a:r>
              <a:t>✅ SELESAI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376672"/>
            <a:ext cx="10972800" cy="621792"/>
          </a:xfrm>
          <a:prstGeom prst="roundRect">
            <a:avLst/>
          </a:prstGeom>
          <a:solidFill>
            <a:srgbClr val="25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42239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D54F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5449824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Penambahan Keterbatasan Penelitian &amp; Saran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5449824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4CAF50"/>
                </a:solidFill>
                <a:latin typeface="Segoe UI"/>
              </a:defRPr>
            </a:pPr>
            <a:r>
              <a:t>✅ SELESAI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D54F"/>
                </a:solidFill>
                <a:latin typeface="Segoe UI"/>
              </a:defRPr>
            </a:pPr>
            <a:r>
              <a:t>Seluruh 7 poin revisi telah diselesaikan dan diintegrasikan ke dalam laporan.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Segoe UI"/>
              </a:defRPr>
            </a:pPr>
            <a:r>
              <a:t>Fauzi Noorsyabani — 227007042 | Sistem Informasi UNSIL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  <a:latin typeface="Segoe U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54F"/>
                </a:solidFill>
                <a:latin typeface="Segoe UI"/>
              </a:defRPr>
            </a:pPr>
            <a:r>
              <a:t>Poin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91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Perbaikan Tabel Star Schema &amp; Data Warehouse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114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Struktur data warehouse diperbaiki sesuai masukan penguji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91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4CAF50"/>
                </a:solidFill>
                <a:latin typeface="Segoe UI"/>
              </a:defRPr>
            </a:pPr>
            <a:r>
              <a:t>✅ SELESAI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05840"/>
            <a:ext cx="5303520" cy="5029200"/>
          </a:xfrm>
          <a:prstGeom prst="roundRect">
            <a:avLst/>
          </a:prstGeom>
          <a:solidFill>
            <a:srgbClr val="25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4846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42A5F5"/>
                </a:solidFill>
                <a:latin typeface="Segoe UI"/>
              </a:defRPr>
            </a:pPr>
            <a:r>
              <a:t>Yang Direvisi: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▪ Nama tabel distandarisasi: Fact_Kapasitas_Pendidikan,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  Dim_Prodi, Dim_Waktu, Dim_Universitas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▪ Jumlah rekaman dipastikan konsisten: 201 baris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  (bukan 202 seperti draft sebelumnya)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▪ Kolom fakultas &amp; rumpun_ilmu ditambahkan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  (flat table: 20 kolom → untuk kebutuhan dashboard)</a:t>
            </a:r>
          </a:p>
          <a:p>
            <a:pPr>
              <a:spcAft>
                <a:spcPts val="400"/>
              </a:spcAft>
              <a:defRPr sz="8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42A5F5"/>
                </a:solidFill>
                <a:latin typeface="Segoe UI"/>
              </a:defRPr>
            </a:pPr>
            <a:r>
              <a:t>Tabel Data Warehouse: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FFD54F"/>
                </a:solidFill>
                <a:latin typeface="Segoe UI"/>
              </a:defRPr>
            </a:pPr>
            <a:r>
              <a:t>Fact_Kapasitas_Pendidikan  │ 201 baris │ 10 kolom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Dim_Prodi                  │  35 baris │  5 kolom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Dim_Waktu                  │   5 baris │  4 kolom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Dim_Universitas            │   1 baris │  6 kolom</a:t>
            </a:r>
          </a:p>
          <a:p>
            <a:pPr>
              <a:spcAft>
                <a:spcPts val="400"/>
              </a:spcAft>
              <a:defRPr sz="1200" b="0">
                <a:solidFill>
                  <a:srgbClr val="FFD54F"/>
                </a:solidFill>
                <a:latin typeface="Segoe UI"/>
              </a:defRPr>
            </a:pPr>
            <a:r>
              <a:t>master_looker_unsil.csv    │ 201 baris │ 20 kolom</a:t>
            </a:r>
          </a:p>
          <a:p>
            <a:pPr>
              <a:spcAft>
                <a:spcPts val="400"/>
              </a:spcAft>
              <a:defRPr sz="8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Pemilihan star schema didasarkan:</a:t>
            </a:r>
          </a:p>
          <a:p>
            <a:pPr>
              <a:spcAft>
                <a:spcPts val="400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t>1. Struktur dimensional → analisis multidimensi</a:t>
            </a:r>
          </a:p>
          <a:p>
            <a:pPr>
              <a:spcAft>
                <a:spcPts val="400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t>2. Performa query minimal join (Kimball, 2013)</a:t>
            </a:r>
          </a:p>
          <a:p>
            <a:pPr>
              <a:spcAft>
                <a:spcPts val="400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t>3. Kompatibilitas dengan Google Looker Studio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005840"/>
            <a:ext cx="5303520" cy="5029200"/>
          </a:xfrm>
          <a:prstGeom prst="roundRect">
            <a:avLst/>
          </a:prstGeom>
          <a:solidFill>
            <a:srgbClr val="25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188720"/>
            <a:ext cx="4846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42A5F5"/>
                </a:solidFill>
                <a:latin typeface="Consolas"/>
              </a:defRPr>
            </a:pPr>
            <a:r>
              <a:t>Diagram Star Schema:</a:t>
            </a:r>
          </a:p>
          <a:p>
            <a:pPr>
              <a:spcAft>
                <a:spcPts val="400"/>
              </a:spcAft>
              <a:defRPr sz="1000" b="0">
                <a:solidFill>
                  <a:srgbClr val="FFFFFF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CCCCCC"/>
                </a:solidFill>
                <a:latin typeface="Consolas"/>
              </a:defRPr>
            </a:pPr>
            <a:r>
              <a:t>            ┌──────────────┐</a:t>
            </a:r>
          </a:p>
          <a:p>
            <a:pPr>
              <a:spcAft>
                <a:spcPts val="400"/>
              </a:spcAft>
              <a:defRPr sz="1200" b="0">
                <a:solidFill>
                  <a:srgbClr val="FFD54F"/>
                </a:solidFill>
                <a:latin typeface="Consolas"/>
              </a:defRPr>
            </a:pPr>
            <a:r>
              <a:t>            │  Dim_Prodi   │</a:t>
            </a:r>
          </a:p>
          <a:p>
            <a:pPr>
              <a:spcAft>
                <a:spcPts val="400"/>
              </a:spcAft>
              <a:defRPr sz="1200" b="0">
                <a:solidFill>
                  <a:srgbClr val="CCCCCC"/>
                </a:solidFill>
                <a:latin typeface="Consolas"/>
              </a:defRPr>
            </a:pPr>
            <a:r>
              <a:t>            │  (35 prodi)  │</a:t>
            </a:r>
          </a:p>
          <a:p>
            <a:pPr>
              <a:spcAft>
                <a:spcPts val="400"/>
              </a:spcAft>
              <a:defRPr sz="1200" b="0">
                <a:solidFill>
                  <a:srgbClr val="CCCCCC"/>
                </a:solidFill>
                <a:latin typeface="Consolas"/>
              </a:defRPr>
            </a:pPr>
            <a:r>
              <a:t>            └──────┬───────┘</a:t>
            </a:r>
          </a:p>
          <a:p>
            <a:pPr>
              <a:spcAft>
                <a:spcPts val="400"/>
              </a:spcAft>
              <a:defRPr sz="1200" b="0">
                <a:solidFill>
                  <a:srgbClr val="CCCCCC"/>
                </a:solidFill>
                <a:latin typeface="Consolas"/>
              </a:defRPr>
            </a:pPr>
            <a:r>
              <a:t>                   │</a:t>
            </a:r>
          </a:p>
          <a:p>
            <a:pPr>
              <a:spcAft>
                <a:spcPts val="400"/>
              </a:spcAft>
              <a:defRPr sz="1200" b="0">
                <a:solidFill>
                  <a:srgbClr val="CCCCCC"/>
                </a:solidFill>
                <a:latin typeface="Consolas"/>
              </a:defRPr>
            </a:pPr>
            <a:r>
              <a:t>┌──────────────┐   │   ┌──────────────────┐</a:t>
            </a:r>
          </a:p>
          <a:p>
            <a:pPr>
              <a:spcAft>
                <a:spcPts val="400"/>
              </a:spcAft>
              <a:defRPr sz="1200" b="0">
                <a:solidFill>
                  <a:srgbClr val="FFD54F"/>
                </a:solidFill>
                <a:latin typeface="Consolas"/>
              </a:defRPr>
            </a:pPr>
            <a:r>
              <a:t>│  Dim_Waktu   ├───┼───┤ Fact_Kapasitas    │</a:t>
            </a:r>
          </a:p>
          <a:p>
            <a:pPr>
              <a:spcAft>
                <a:spcPts val="400"/>
              </a:spcAft>
              <a:defRPr sz="1200" b="0">
                <a:solidFill>
                  <a:srgbClr val="CCCCCC"/>
                </a:solidFill>
                <a:latin typeface="Consolas"/>
              </a:defRPr>
            </a:pPr>
            <a:r>
              <a:t>│ (5 periode)  │   │   │ (201 rekaman)     │</a:t>
            </a:r>
          </a:p>
          <a:p>
            <a:pPr>
              <a:spcAft>
                <a:spcPts val="400"/>
              </a:spcAft>
              <a:defRPr sz="1200" b="0">
                <a:solidFill>
                  <a:srgbClr val="CCCCCC"/>
                </a:solidFill>
                <a:latin typeface="Consolas"/>
              </a:defRPr>
            </a:pPr>
            <a:r>
              <a:t>└──────────────┘   │   └──────────────────┘</a:t>
            </a:r>
          </a:p>
          <a:p>
            <a:pPr>
              <a:spcAft>
                <a:spcPts val="400"/>
              </a:spcAft>
              <a:defRPr sz="1200" b="0">
                <a:solidFill>
                  <a:srgbClr val="CCCCCC"/>
                </a:solidFill>
                <a:latin typeface="Consolas"/>
              </a:defRPr>
            </a:pPr>
            <a:r>
              <a:t>                   │</a:t>
            </a:r>
          </a:p>
          <a:p>
            <a:pPr>
              <a:spcAft>
                <a:spcPts val="400"/>
              </a:spcAft>
              <a:defRPr sz="1200" b="0">
                <a:solidFill>
                  <a:srgbClr val="CCCCCC"/>
                </a:solidFill>
                <a:latin typeface="Consolas"/>
              </a:defRPr>
            </a:pPr>
            <a:r>
              <a:t>            ┌──────┴───────┐</a:t>
            </a:r>
          </a:p>
          <a:p>
            <a:pPr>
              <a:spcAft>
                <a:spcPts val="400"/>
              </a:spcAft>
              <a:defRPr sz="1200" b="0">
                <a:solidFill>
                  <a:srgbClr val="FFD54F"/>
                </a:solidFill>
                <a:latin typeface="Consolas"/>
              </a:defRPr>
            </a:pPr>
            <a:r>
              <a:t>            │Dim_Universitas│</a:t>
            </a:r>
          </a:p>
          <a:p>
            <a:pPr>
              <a:spcAft>
                <a:spcPts val="400"/>
              </a:spcAft>
              <a:defRPr sz="1200" b="0">
                <a:solidFill>
                  <a:srgbClr val="CCCCCC"/>
                </a:solidFill>
                <a:latin typeface="Consolas"/>
              </a:defRPr>
            </a:pPr>
            <a:r>
              <a:t>            │  (1 institusi)│</a:t>
            </a:r>
          </a:p>
          <a:p>
            <a:pPr>
              <a:spcAft>
                <a:spcPts val="400"/>
              </a:spcAft>
              <a:defRPr sz="1200" b="0">
                <a:solidFill>
                  <a:srgbClr val="CCCCCC"/>
                </a:solidFill>
                <a:latin typeface="Consolas"/>
              </a:defRPr>
            </a:pPr>
            <a:r>
              <a:t>            └──────────────┘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Segoe UI"/>
              </a:defRPr>
            </a:pPr>
            <a:r>
              <a:t>Fauzi Noorsyabani — 227007042 | Sistem Informasi UNSIL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  <a:latin typeface="Segoe U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54F"/>
                </a:solidFill>
                <a:latin typeface="Segoe UI"/>
              </a:defRPr>
            </a:pPr>
            <a:r>
              <a:t>Poin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91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Penambahan Penelitian Terdahulu &amp; Jurnal Acuan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91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4CAF50"/>
                </a:solidFill>
                <a:latin typeface="Segoe UI"/>
              </a:defRPr>
            </a:pPr>
            <a:r>
              <a:t>✅ SELESAI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0972800" cy="868680"/>
          </a:xfrm>
          <a:prstGeom prst="roundRect">
            <a:avLst/>
          </a:prstGeom>
          <a:solidFill>
            <a:srgbClr val="25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7043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D54F"/>
                </a:solidFill>
                <a:latin typeface="Segoe UI"/>
              </a:defRPr>
            </a:pPr>
            <a:r>
              <a:t>Susanto &amp; Hidayati (2022)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Analisis kapasitas dosen di PT Indonesia → Menegaskan disparitas antarunit kerja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13258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4CAF50"/>
                </a:solidFill>
                <a:latin typeface="Segoe UI"/>
              </a:defRPr>
            </a:pPr>
            <a:r>
              <a:t>✓ SEJALAN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03120"/>
            <a:ext cx="10972800" cy="868680"/>
          </a:xfrm>
          <a:prstGeom prst="roundRect">
            <a:avLst/>
          </a:prstGeom>
          <a:solidFill>
            <a:srgbClr val="25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1762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D54F"/>
                </a:solidFill>
                <a:latin typeface="Segoe UI"/>
              </a:defRPr>
            </a:pPr>
            <a:r>
              <a:t>Setiawan dkk. (2023/2024)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5146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Ketimpangan distribusi dosen per prodi → Prodi favorit memiliki beban tertinggi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2331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4CAF50"/>
                </a:solidFill>
                <a:latin typeface="Segoe UI"/>
              </a:defRPr>
            </a:pPr>
            <a:r>
              <a:t>✓ SEJALAN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108960"/>
            <a:ext cx="10972800" cy="868680"/>
          </a:xfrm>
          <a:prstGeom prst="roundRect">
            <a:avLst/>
          </a:prstGeom>
          <a:solidFill>
            <a:srgbClr val="25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1821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D54F"/>
                </a:solidFill>
                <a:latin typeface="Segoe UI"/>
              </a:defRPr>
            </a:pPr>
            <a:r>
              <a:t>Sharma &amp; Joshi (2022)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52044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Dashboard visual interaktif mempercepat identifikasi anomali data BI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33375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4CAF50"/>
                </a:solidFill>
                <a:latin typeface="Segoe UI"/>
              </a:defRPr>
            </a:pPr>
            <a:r>
              <a:t>✓ SEJALAN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114800"/>
            <a:ext cx="10972800" cy="868680"/>
          </a:xfrm>
          <a:prstGeom prst="roundRect">
            <a:avLst/>
          </a:prstGeom>
          <a:solidFill>
            <a:srgbClr val="25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1879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D54F"/>
                </a:solidFill>
                <a:latin typeface="Segoe UI"/>
              </a:defRPr>
            </a:pPr>
            <a:r>
              <a:t>Astuti dkk. (2024)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52628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Transformasi data statis PDDikti menjadi informasi BI di perguruan tinggi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4343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4CAF50"/>
                </a:solidFill>
                <a:latin typeface="Segoe UI"/>
              </a:defRPr>
            </a:pPr>
            <a:r>
              <a:t>✓ SEJALAN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120640"/>
            <a:ext cx="10972800" cy="868680"/>
          </a:xfrm>
          <a:prstGeom prst="roundRect">
            <a:avLst/>
          </a:prstGeom>
          <a:solidFill>
            <a:srgbClr val="25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19379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D54F"/>
                </a:solidFill>
                <a:latin typeface="Segoe UI"/>
              </a:defRPr>
            </a:pPr>
            <a:r>
              <a:t>Zhang &amp; Goyal (2024)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5321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Prinsip DSS → filter interaktif untuk eksplorasi data mandiri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5349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4CAF50"/>
                </a:solidFill>
                <a:latin typeface="Segoe UI"/>
              </a:defRPr>
            </a:pPr>
            <a:r>
              <a:t>✓ SEJALAN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D54F"/>
                </a:solidFill>
                <a:latin typeface="Segoe UI"/>
              </a:defRPr>
            </a:pPr>
            <a:r>
              <a:t>Kesesuaian ini mengonfirmasi bahwa temuan penelitian didukung oleh literatur terkini.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Segoe UI"/>
              </a:defRPr>
            </a:pPr>
            <a:r>
              <a:t>Fauzi Noorsyabani — 227007042 | Sistem Informasi UNSIL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  <a:latin typeface="Segoe U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54F"/>
                </a:solidFill>
                <a:latin typeface="Segoe UI"/>
              </a:defRPr>
            </a:pPr>
            <a:r>
              <a:t>Poin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91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Validasi Data — Sebelum &amp; Sesudah ETL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91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4CAF50"/>
                </a:solidFill>
                <a:latin typeface="Segoe UI"/>
              </a:defRPr>
            </a:pPr>
            <a:r>
              <a:t>✅ SELESAI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6858000" cy="3474720"/>
          </a:xfrm>
          <a:prstGeom prst="roundRect">
            <a:avLst/>
          </a:prstGeom>
          <a:solidFill>
            <a:srgbClr val="25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2A5F5"/>
                </a:solidFill>
                <a:latin typeface="Segoe UI"/>
              </a:defRPr>
            </a:pPr>
            <a:r>
              <a:t>Tahap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188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2A5F5"/>
                </a:solidFill>
                <a:latin typeface="Segoe UI"/>
              </a:defRPr>
            </a:pPr>
            <a:r>
              <a:t>Jumlah Baris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1188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2A5F5"/>
                </a:solidFill>
                <a:latin typeface="Segoe UI"/>
              </a:defRPr>
            </a:pPr>
            <a:r>
              <a:t>Prodi Unik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1188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2A5F5"/>
                </a:solidFill>
                <a:latin typeface="Segoe UI"/>
              </a:defRPr>
            </a:pPr>
            <a:r>
              <a:t>Keterangan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830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Sebelum ETL (Raw)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17830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&gt;5.000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17830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&gt;500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17830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Seluruh PTN BLU Nasional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3774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Sesudah Filter Scope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23774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210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23774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42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23774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Filter → Universitas Siliwangi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71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Sesudah Drop Null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2971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201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2971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35 aktif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7840" y="2971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Eliminasi baris tanpa rasio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566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D54F"/>
                </a:solidFill>
                <a:latin typeface="Segoe UI"/>
              </a:defRPr>
            </a:pPr>
            <a:r>
              <a:t>Hasil Akhir (Clean)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3566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D54F"/>
                </a:solidFill>
                <a:latin typeface="Segoe UI"/>
              </a:defRPr>
            </a:pPr>
            <a:r>
              <a:t>201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3566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D54F"/>
                </a:solidFill>
                <a:latin typeface="Segoe UI"/>
              </a:defRPr>
            </a:pPr>
            <a:r>
              <a:t>35 aktif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3566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D54F"/>
                </a:solidFill>
                <a:latin typeface="Segoe UI"/>
              </a:defRPr>
            </a:pPr>
            <a:r>
              <a:t>Siap masuk warehouse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663440"/>
            <a:ext cx="6858000" cy="1371600"/>
          </a:xfrm>
          <a:prstGeom prst="roundRect">
            <a:avLst/>
          </a:prstGeom>
          <a:solidFill>
            <a:srgbClr val="25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754880"/>
            <a:ext cx="6400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42A5F5"/>
                </a:solidFill>
                <a:latin typeface="Segoe UI"/>
              </a:defRPr>
            </a:pPr>
            <a:r>
              <a:t>💡 Temuan Validasi ETL: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▪ Reduksi 5.000+ → 201 baris: valid (scope filtering benar)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▪ 9 baris dieliminasi: prodi tanpa mahasiswa aktif pada periode tertentu</a:t>
            </a:r>
          </a:p>
          <a:p>
            <a:pPr>
              <a:spcAft>
                <a:spcPts val="400"/>
              </a:spcAft>
              <a:defRPr sz="1200" b="0">
                <a:solidFill>
                  <a:srgbClr val="4CAF50"/>
                </a:solidFill>
                <a:latin typeface="Segoe UI"/>
              </a:defRPr>
            </a:pPr>
            <a:r>
              <a:t>▪ Tidak ada kehilangan data yang tidak disengaja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89520" y="1005840"/>
            <a:ext cx="4114800" cy="5029200"/>
          </a:xfrm>
          <a:prstGeom prst="roundRect">
            <a:avLst/>
          </a:prstGeom>
          <a:solidFill>
            <a:srgbClr val="25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63840" y="1188720"/>
            <a:ext cx="3657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42A5F5"/>
                </a:solidFill>
                <a:latin typeface="Segoe UI"/>
              </a:defRPr>
            </a:pPr>
            <a:r>
              <a:t>Validasi DW ↔ Dashboard</a:t>
            </a:r>
          </a:p>
          <a:p>
            <a:pPr>
              <a:spcAft>
                <a:spcPts val="400"/>
              </a:spcAft>
              <a:defRPr sz="1200" b="1">
                <a:solidFill>
                  <a:srgbClr val="4CAF50"/>
                </a:solidFill>
                <a:latin typeface="Segoe UI"/>
              </a:defRPr>
            </a:pPr>
            <a:r>
              <a:t>(Konsistensi 100%)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100" b="0">
                <a:solidFill>
                  <a:srgbClr val="FFFFFF"/>
                </a:solidFill>
                <a:latin typeface="Segoe UI"/>
              </a:defRPr>
            </a:pPr>
            <a:r>
              <a:t>Sistem Informasi │ Ganjil 2025</a:t>
            </a:r>
          </a:p>
          <a:p>
            <a:pPr>
              <a:spcAft>
                <a:spcPts val="400"/>
              </a:spcAft>
              <a:defRPr sz="1100" b="0">
                <a:solidFill>
                  <a:srgbClr val="4CAF50"/>
                </a:solidFill>
                <a:latin typeface="Segoe UI"/>
              </a:defRPr>
            </a:pPr>
            <a:r>
              <a:t>DW: 17,29 │ Dashboard: 17,29  ✓</a:t>
            </a:r>
          </a:p>
          <a:p>
            <a:pPr>
              <a:spcAft>
                <a:spcPts val="400"/>
              </a:spcAft>
              <a:defRPr sz="4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100" b="0">
                <a:solidFill>
                  <a:srgbClr val="FFFFFF"/>
                </a:solidFill>
                <a:latin typeface="Segoe UI"/>
              </a:defRPr>
            </a:pPr>
            <a:r>
              <a:t>Akuntansi │ Ganjil 2025</a:t>
            </a:r>
          </a:p>
          <a:p>
            <a:pPr>
              <a:spcAft>
                <a:spcPts val="400"/>
              </a:spcAft>
              <a:defRPr sz="1100" b="0">
                <a:solidFill>
                  <a:srgbClr val="4CAF50"/>
                </a:solidFill>
                <a:latin typeface="Segoe UI"/>
              </a:defRPr>
            </a:pPr>
            <a:r>
              <a:t>DW: 45,71 │ Dashboard: 45,71  ✓</a:t>
            </a:r>
          </a:p>
          <a:p>
            <a:pPr>
              <a:spcAft>
                <a:spcPts val="400"/>
              </a:spcAft>
              <a:defRPr sz="4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100" b="0">
                <a:solidFill>
                  <a:srgbClr val="FFFFFF"/>
                </a:solidFill>
                <a:latin typeface="Segoe UI"/>
              </a:defRPr>
            </a:pPr>
            <a:r>
              <a:t>Manajemen S1 │ Ganjil 2025</a:t>
            </a:r>
          </a:p>
          <a:p>
            <a:pPr>
              <a:spcAft>
                <a:spcPts val="400"/>
              </a:spcAft>
              <a:defRPr sz="1100" b="0">
                <a:solidFill>
                  <a:srgbClr val="4CAF50"/>
                </a:solidFill>
                <a:latin typeface="Segoe UI"/>
              </a:defRPr>
            </a:pPr>
            <a:r>
              <a:t>DW: 47,89 │ Dashboard: 47,89  ✓</a:t>
            </a:r>
          </a:p>
          <a:p>
            <a:pPr>
              <a:spcAft>
                <a:spcPts val="400"/>
              </a:spcAft>
              <a:defRPr sz="4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100" b="0">
                <a:solidFill>
                  <a:srgbClr val="FFFFFF"/>
                </a:solidFill>
                <a:latin typeface="Segoe UI"/>
              </a:defRPr>
            </a:pPr>
            <a:r>
              <a:t>Pend. Sejarah │ Ganjil 2025</a:t>
            </a:r>
          </a:p>
          <a:p>
            <a:pPr>
              <a:spcAft>
                <a:spcPts val="400"/>
              </a:spcAft>
              <a:defRPr sz="1100" b="0">
                <a:solidFill>
                  <a:srgbClr val="4CAF50"/>
                </a:solidFill>
                <a:latin typeface="Segoe UI"/>
              </a:defRPr>
            </a:pPr>
            <a:r>
              <a:t>DW: 54,00 │ Dashboard: 54,00  ✓</a:t>
            </a:r>
          </a:p>
          <a:p>
            <a:pPr>
              <a:spcAft>
                <a:spcPts val="400"/>
              </a:spcAft>
              <a:defRPr sz="4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100" b="0">
                <a:solidFill>
                  <a:srgbClr val="FFFFFF"/>
                </a:solidFill>
                <a:latin typeface="Segoe UI"/>
              </a:defRPr>
            </a:pPr>
            <a:r>
              <a:t>Informatika │ Ganjil 2023</a:t>
            </a:r>
          </a:p>
          <a:p>
            <a:pPr>
              <a:spcAft>
                <a:spcPts val="400"/>
              </a:spcAft>
              <a:defRPr sz="1100" b="0">
                <a:solidFill>
                  <a:srgbClr val="4CAF50"/>
                </a:solidFill>
                <a:latin typeface="Segoe UI"/>
              </a:defRPr>
            </a:pPr>
            <a:r>
              <a:t>DW: 28,69 │ Dashboard: 28,69  ✓</a:t>
            </a:r>
          </a:p>
          <a:p>
            <a:pPr>
              <a:spcAft>
                <a:spcPts val="400"/>
              </a:spcAft>
              <a:defRPr sz="8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FFD54F"/>
                </a:solidFill>
                <a:latin typeface="Segoe UI"/>
              </a:defRPr>
            </a:pPr>
            <a:r>
              <a:t>7/7 sampel = Konsisten 100%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Segoe UI"/>
              </a:defRPr>
            </a:pPr>
            <a:r>
              <a:t>Fauzi Noorsyabani — 227007042 | Sistem Informasi UNSIL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  <a:latin typeface="Segoe U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54F"/>
                </a:solidFill>
                <a:latin typeface="Segoe UI"/>
              </a:defRPr>
            </a:pPr>
            <a:r>
              <a:t>Poin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91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Validasi Data — Antar Semester (Ganjil vs Genap)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91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4CAF50"/>
                </a:solidFill>
                <a:latin typeface="Segoe UI"/>
              </a:defRPr>
            </a:pPr>
            <a:r>
              <a:t>✅ SELESAI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7315200" cy="4114800"/>
          </a:xfrm>
          <a:prstGeom prst="roundRect">
            <a:avLst/>
          </a:prstGeom>
          <a:solidFill>
            <a:srgbClr val="25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6858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CCCCCC"/>
                </a:solidFill>
                <a:latin typeface="Consolas"/>
              </a:defRPr>
            </a:pPr>
            <a:r>
              <a:t>Tujuan: mendeteksi anomali jumlah mahasiswa antar semester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100" b="1">
                <a:solidFill>
                  <a:srgbClr val="42A5F5"/>
                </a:solidFill>
                <a:latin typeface="Consolas"/>
              </a:defRPr>
            </a:pPr>
            <a:r>
              <a:t>Program Studi       │ Ganjil 2023 │ Genap 2023 │ Selisih │ Status</a:t>
            </a:r>
          </a:p>
          <a:p>
            <a:pPr>
              <a:spcAft>
                <a:spcPts val="400"/>
              </a:spcAft>
              <a:defRPr sz="1000" b="0">
                <a:solidFill>
                  <a:srgbClr val="CCCCCC"/>
                </a:solidFill>
                <a:latin typeface="Consolas"/>
              </a:defRPr>
            </a:pPr>
            <a:r>
              <a:t>─────────────────────┼─────────────┼────────────┼─────────┼───────</a:t>
            </a:r>
          </a:p>
          <a:p>
            <a:pPr>
              <a:spcAft>
                <a:spcPts val="400"/>
              </a:spcAft>
              <a:defRPr sz="1100" b="0">
                <a:solidFill>
                  <a:srgbClr val="FFFFFF"/>
                </a:solidFill>
                <a:latin typeface="Consolas"/>
              </a:defRPr>
            </a:pPr>
            <a:r>
              <a:t>Manajemen S1         │    1.648    │    1.739   │   +91   │ Normal</a:t>
            </a:r>
          </a:p>
          <a:p>
            <a:pPr>
              <a:spcAft>
                <a:spcPts val="400"/>
              </a:spcAft>
              <a:defRPr sz="1100" b="0">
                <a:solidFill>
                  <a:srgbClr val="FFFFFF"/>
                </a:solidFill>
                <a:latin typeface="Consolas"/>
              </a:defRPr>
            </a:pPr>
            <a:r>
              <a:t>Informatika S1       │      746    │      745   │    -1   │ Normal</a:t>
            </a:r>
          </a:p>
          <a:p>
            <a:pPr>
              <a:spcAft>
                <a:spcPts val="400"/>
              </a:spcAft>
              <a:defRPr sz="1100" b="0">
                <a:solidFill>
                  <a:srgbClr val="FFFFFF"/>
                </a:solidFill>
                <a:latin typeface="Consolas"/>
              </a:defRPr>
            </a:pPr>
            <a:r>
              <a:t>Pend. Masyarakat     │      566    │      611   │   +45   │ Normal</a:t>
            </a:r>
          </a:p>
          <a:p>
            <a:pPr>
              <a:spcAft>
                <a:spcPts val="400"/>
              </a:spcAft>
              <a:defRPr sz="1100" b="0">
                <a:solidFill>
                  <a:srgbClr val="FFFFFF"/>
                </a:solidFill>
                <a:latin typeface="Consolas"/>
              </a:defRPr>
            </a:pPr>
            <a:r>
              <a:t>Ilmu Politik         │      596    │      614   │   +18   │ Normal</a:t>
            </a:r>
          </a:p>
          <a:p>
            <a:pPr>
              <a:spcAft>
                <a:spcPts val="400"/>
              </a:spcAft>
              <a:defRPr sz="1100" b="0">
                <a:solidFill>
                  <a:srgbClr val="FFFFFF"/>
                </a:solidFill>
                <a:latin typeface="Consolas"/>
              </a:defRPr>
            </a:pPr>
            <a:r>
              <a:t>Pend. Sejarah        │      651    │      716   │   +65   │ Normal</a:t>
            </a:r>
          </a:p>
          <a:p>
            <a:pPr>
              <a:spcAft>
                <a:spcPts val="400"/>
              </a:spcAft>
              <a:defRPr sz="1100" b="0">
                <a:solidFill>
                  <a:srgbClr val="CCCCCC"/>
                </a:solidFill>
                <a:latin typeface="Consolas"/>
              </a:defRPr>
            </a:pPr>
            <a:r>
              <a:t>34 prodi lainnya     │      —      │      —     │  &lt;200   │ Normal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100" b="0">
                <a:solidFill>
                  <a:srgbClr val="FF9800"/>
                </a:solidFill>
                <a:latin typeface="Consolas"/>
              </a:defRPr>
            </a:pPr>
            <a:r>
              <a:t>⚠️  PPG Dalam Jabatan │    1.327    │      703   │  -624   │ Wajar*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100" b="0">
                <a:solidFill>
                  <a:srgbClr val="CCCCCC"/>
                </a:solidFill>
                <a:latin typeface="Consolas"/>
              </a:defRPr>
            </a:pPr>
            <a:r>
              <a:t>*PPG: program profesi berbasis kohort → penerimaan bersifat gelombang</a:t>
            </a:r>
          </a:p>
          <a:p>
            <a:pPr>
              <a:spcAft>
                <a:spcPts val="400"/>
              </a:spcAft>
              <a:defRPr sz="1100" b="0">
                <a:solidFill>
                  <a:srgbClr val="CCCCCC"/>
                </a:solidFill>
                <a:latin typeface="Consolas"/>
              </a:defRPr>
            </a:pPr>
            <a:r>
              <a:t> sehingga deviasi besar antar semester bersifat wajar/alami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005840"/>
            <a:ext cx="3657600" cy="4114800"/>
          </a:xfrm>
          <a:prstGeom prst="roundRect">
            <a:avLst/>
          </a:prstGeom>
          <a:solidFill>
            <a:srgbClr val="25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188720"/>
            <a:ext cx="3291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42A5F5"/>
                </a:solidFill>
                <a:latin typeface="Segoe UI"/>
              </a:defRPr>
            </a:pPr>
            <a:r>
              <a:t>💡 Kesimpulan Validasi</a:t>
            </a:r>
          </a:p>
          <a:p>
            <a:pPr>
              <a:spcAft>
                <a:spcPts val="400"/>
              </a:spcAft>
              <a:defRPr sz="1500" b="1">
                <a:solidFill>
                  <a:srgbClr val="42A5F5"/>
                </a:solidFill>
                <a:latin typeface="Segoe UI"/>
              </a:defRPr>
            </a:pPr>
            <a:r>
              <a:t>   Antar Semester</a:t>
            </a:r>
          </a:p>
          <a:p>
            <a:pPr>
              <a:spcAft>
                <a:spcPts val="400"/>
              </a:spcAft>
              <a:defRPr sz="8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4CAF50"/>
                </a:solidFill>
                <a:latin typeface="Segoe UI"/>
              </a:defRPr>
            </a:pPr>
            <a:r>
              <a:t>✅ 34/35 prodi menunjukkan</a:t>
            </a:r>
          </a:p>
          <a:p>
            <a:pPr>
              <a:spcAft>
                <a:spcPts val="400"/>
              </a:spcAft>
              <a:defRPr sz="1300" b="0">
                <a:solidFill>
                  <a:srgbClr val="4CAF50"/>
                </a:solidFill>
                <a:latin typeface="Segoe UI"/>
              </a:defRPr>
            </a:pPr>
            <a:r>
              <a:t>   stabilitas konsisten</a:t>
            </a:r>
          </a:p>
          <a:p>
            <a:pPr>
              <a:spcAft>
                <a:spcPts val="400"/>
              </a:spcAft>
              <a:defRPr sz="1300" b="0">
                <a:solidFill>
                  <a:srgbClr val="4CAF50"/>
                </a:solidFill>
                <a:latin typeface="Segoe UI"/>
              </a:defRPr>
            </a:pPr>
            <a:r>
              <a:t>   (&lt;5% deviasi)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FF9800"/>
                </a:solidFill>
                <a:latin typeface="Segoe UI"/>
              </a:defRPr>
            </a:pPr>
            <a:r>
              <a:t>⚠️  1 anomali: PPG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   Terklarifikasi sebagai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   karakteristik alami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   program profesi</a:t>
            </a:r>
          </a:p>
          <a:p>
            <a:pPr>
              <a:spcAft>
                <a:spcPts val="400"/>
              </a:spcAft>
              <a:defRPr sz="8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FFD54F"/>
                </a:solidFill>
                <a:latin typeface="Segoe UI"/>
              </a:defRPr>
            </a:pPr>
            <a:r>
              <a:t>Validasi 3 tahap:</a:t>
            </a:r>
          </a:p>
          <a:p>
            <a:pPr>
              <a:spcAft>
                <a:spcPts val="400"/>
              </a:spcAft>
              <a:defRPr sz="1200" b="0">
                <a:solidFill>
                  <a:srgbClr val="4CAF50"/>
                </a:solidFill>
                <a:latin typeface="Segoe UI"/>
              </a:defRPr>
            </a:pPr>
            <a:r>
              <a:t>1. Sebelum/Sesudah ETL ✅</a:t>
            </a:r>
          </a:p>
          <a:p>
            <a:pPr>
              <a:spcAft>
                <a:spcPts val="400"/>
              </a:spcAft>
              <a:defRPr sz="1200" b="0">
                <a:solidFill>
                  <a:srgbClr val="4CAF50"/>
                </a:solidFill>
                <a:latin typeface="Segoe UI"/>
              </a:defRPr>
            </a:pPr>
            <a:r>
              <a:t>2. Antar Semester      ✅</a:t>
            </a:r>
          </a:p>
          <a:p>
            <a:pPr>
              <a:spcAft>
                <a:spcPts val="400"/>
              </a:spcAft>
              <a:defRPr sz="1200" b="0">
                <a:solidFill>
                  <a:srgbClr val="4CAF50"/>
                </a:solidFill>
                <a:latin typeface="Segoe UI"/>
              </a:defRPr>
            </a:pPr>
            <a:r>
              <a:t>3. DW ↔ Dashboard     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Segoe UI"/>
              </a:defRPr>
            </a:pPr>
            <a:r>
              <a:t>Fauzi Noorsyabani — 227007042 | Sistem Informasi UNSIL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  <a:latin typeface="Segoe U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54F"/>
                </a:solidFill>
                <a:latin typeface="Segoe UI"/>
              </a:defRPr>
            </a:pPr>
            <a:r>
              <a:t>Poin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91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Perbaikan Penyusunan Laporan (BAB IV &amp; V)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91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4CAF50"/>
                </a:solidFill>
                <a:latin typeface="Segoe UI"/>
              </a:defRPr>
            </a:pPr>
            <a:r>
              <a:t>✅ SELESAI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10972800" cy="658368"/>
          </a:xfrm>
          <a:prstGeom prst="roundRect">
            <a:avLst/>
          </a:prstGeom>
          <a:solidFill>
            <a:srgbClr val="25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051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CAF50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0515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Penambahan Narasi Pengantar &amp; Interpretasi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35331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Setiap gambar/tabel dilengkapi narasi pengantar dan interpretasi hasil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55648"/>
            <a:ext cx="10972800" cy="658368"/>
          </a:xfrm>
          <a:prstGeom prst="roundRect">
            <a:avLst/>
          </a:prstGeom>
          <a:solidFill>
            <a:srgbClr val="25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013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CAF50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80136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Konsistensi Angka Data Warehouse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10312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Seluruh dokumen menggunakan angka 201 rekaman (bukan 202)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505456"/>
            <a:ext cx="10972800" cy="658368"/>
          </a:xfrm>
          <a:prstGeom prst="roundRect">
            <a:avLst/>
          </a:prstGeom>
          <a:solidFill>
            <a:srgbClr val="25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55117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CAF50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55117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Penyusunan Ulang Alur BAB IV &amp; 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852928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Struktur: ETL → Dashboard → Visualisasi → Validasi → Analisis → Kesimpulan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255264"/>
            <a:ext cx="10972800" cy="658368"/>
          </a:xfrm>
          <a:prstGeom prst="roundRect">
            <a:avLst/>
          </a:prstGeom>
          <a:solidFill>
            <a:srgbClr val="25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30098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CAF50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30098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Penyesuaian Bahasa Akademik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602736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Menghilangkan kata klaim, diganti narasi objektif berbasis data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005072"/>
            <a:ext cx="10972800" cy="658368"/>
          </a:xfrm>
          <a:prstGeom prst="roundRect">
            <a:avLst/>
          </a:prstGeom>
          <a:solidFill>
            <a:srgbClr val="25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0507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CAF50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05079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Konsistensi Terminologi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43525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Istilah teknis diseragamkan di seluruh bab (star schema, flat table, dll)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754879"/>
            <a:ext cx="10972800" cy="658368"/>
          </a:xfrm>
          <a:prstGeom prst="roundRect">
            <a:avLst/>
          </a:prstGeom>
          <a:solidFill>
            <a:srgbClr val="25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80059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CAF50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800599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Penambahan Kode Program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5102351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Kode Program 4.1–4.7 ditambahkan beserta penjelasan setiap langkah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504688"/>
            <a:ext cx="10972800" cy="658368"/>
          </a:xfrm>
          <a:prstGeom prst="roundRect">
            <a:avLst/>
          </a:prstGeom>
          <a:solidFill>
            <a:srgbClr val="25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5504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CAF50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555040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Penambahan Tabel Data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585216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Tabel 4.1–4.7 ditambahkan (ringkasan transform, data aktual, validasi)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Segoe UI"/>
              </a:defRPr>
            </a:pPr>
            <a:r>
              <a:t>Fauzi Noorsyabani — 227007042 | Sistem Informasi UNSIL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  <a:latin typeface="Segoe U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54F"/>
                </a:solidFill>
                <a:latin typeface="Segoe UI"/>
              </a:defRPr>
            </a:pPr>
            <a:r>
              <a:t>Poin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91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Filter Fakultas &amp; Rumpun Ilmu di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91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4CAF50"/>
                </a:solidFill>
                <a:latin typeface="Segoe UI"/>
              </a:defRPr>
            </a:pPr>
            <a:r>
              <a:t>✅ SELESAI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5486400" cy="5029200"/>
          </a:xfrm>
          <a:prstGeom prst="roundRect">
            <a:avLst/>
          </a:prstGeom>
          <a:solidFill>
            <a:srgbClr val="25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42A5F5"/>
                </a:solidFill>
                <a:latin typeface="Consolas"/>
              </a:defRPr>
            </a:pPr>
            <a:r>
              <a:t>Implementasi: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▪ Kolom fakultas &amp; rumpun_ilmu ditambahkan via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  Dictionary Mapping di pipeline ETL (Langkah 6)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▪ Filter terintegrasi di halaman dashboard Looker Studio</a:t>
            </a:r>
          </a:p>
          <a:p>
            <a:pPr>
              <a:spcAft>
                <a:spcPts val="400"/>
              </a:spcAft>
              <a:defRPr sz="800" b="0">
                <a:solidFill>
                  <a:srgbClr val="FFFFFF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42A5F5"/>
                </a:solidFill>
                <a:latin typeface="Consolas"/>
              </a:defRPr>
            </a:pPr>
            <a:r>
              <a:t>Pemetaan Fakultas:</a:t>
            </a:r>
          </a:p>
          <a:p>
            <a:pPr>
              <a:spcAft>
                <a:spcPts val="400"/>
              </a:spcAft>
              <a:defRPr sz="400" b="0">
                <a:solidFill>
                  <a:srgbClr val="FFFFFF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100" b="0">
                <a:solidFill>
                  <a:srgbClr val="FFFFFF"/>
                </a:solidFill>
                <a:latin typeface="Consolas"/>
              </a:defRPr>
            </a:pPr>
            <a:r>
              <a:t>F. Teknik           │ Sains  │ Informatika, T.Sipil, SI</a:t>
            </a:r>
          </a:p>
          <a:p>
            <a:pPr>
              <a:spcAft>
                <a:spcPts val="400"/>
              </a:spcAft>
              <a:defRPr sz="1100" b="0">
                <a:solidFill>
                  <a:srgbClr val="FFFFFF"/>
                </a:solidFill>
                <a:latin typeface="Consolas"/>
              </a:defRPr>
            </a:pPr>
            <a:r>
              <a:t>F. Pertanian        │ Sains  │ Agroteknologi, Agribisnis</a:t>
            </a:r>
          </a:p>
          <a:p>
            <a:pPr>
              <a:spcAft>
                <a:spcPts val="400"/>
              </a:spcAft>
              <a:defRPr sz="1100" b="0">
                <a:solidFill>
                  <a:srgbClr val="FFFFFF"/>
                </a:solidFill>
                <a:latin typeface="Consolas"/>
              </a:defRPr>
            </a:pPr>
            <a:r>
              <a:t>F. Ilmu Kesehatan   │ Sains  │ Kes. Masyarakat, Keperawatan</a:t>
            </a:r>
          </a:p>
          <a:p>
            <a:pPr>
              <a:spcAft>
                <a:spcPts val="400"/>
              </a:spcAft>
              <a:defRPr sz="1100" b="0">
                <a:solidFill>
                  <a:srgbClr val="FFFFFF"/>
                </a:solidFill>
                <a:latin typeface="Consolas"/>
              </a:defRPr>
            </a:pPr>
            <a:r>
              <a:t>F. Keguruan (FKIP)  │ Sosial │ P.Matematika, P.Sejarah</a:t>
            </a:r>
          </a:p>
          <a:p>
            <a:pPr>
              <a:spcAft>
                <a:spcPts val="400"/>
              </a:spcAft>
              <a:defRPr sz="1100" b="0">
                <a:solidFill>
                  <a:srgbClr val="FFFFFF"/>
                </a:solidFill>
                <a:latin typeface="Consolas"/>
              </a:defRPr>
            </a:pPr>
            <a:r>
              <a:t>F. Ekonomi &amp; Bisnis │ Sosial │ Manajemen, Akuntansi</a:t>
            </a:r>
          </a:p>
          <a:p>
            <a:pPr>
              <a:spcAft>
                <a:spcPts val="400"/>
              </a:spcAft>
              <a:defRPr sz="1100" b="0">
                <a:solidFill>
                  <a:srgbClr val="FFFFFF"/>
                </a:solidFill>
                <a:latin typeface="Consolas"/>
              </a:defRPr>
            </a:pPr>
            <a:r>
              <a:t>F. FISIP            │ Sosial │ Ilmu Politik, Adm. Publik</a:t>
            </a:r>
          </a:p>
          <a:p>
            <a:pPr>
              <a:spcAft>
                <a:spcPts val="400"/>
              </a:spcAft>
              <a:defRPr sz="800" b="0">
                <a:solidFill>
                  <a:srgbClr val="FFFFFF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42A5F5"/>
                </a:solidFill>
                <a:latin typeface="Consolas"/>
              </a:defRPr>
            </a:pPr>
            <a:r>
              <a:t>Manfaat:</a:t>
            </a:r>
          </a:p>
          <a:p>
            <a:pPr>
              <a:spcAft>
                <a:spcPts val="400"/>
              </a:spcAft>
              <a:defRPr sz="1200" b="0">
                <a:solidFill>
                  <a:srgbClr val="CCCCCC"/>
                </a:solidFill>
                <a:latin typeface="Consolas"/>
              </a:defRPr>
            </a:pPr>
            <a:r>
              <a:t>▪ Dekan dapat menganalisis kapasitas per fakultas</a:t>
            </a:r>
          </a:p>
          <a:p>
            <a:pPr>
              <a:spcAft>
                <a:spcPts val="400"/>
              </a:spcAft>
              <a:defRPr sz="1200" b="0">
                <a:solidFill>
                  <a:srgbClr val="CCCCCC"/>
                </a:solidFill>
                <a:latin typeface="Consolas"/>
              </a:defRPr>
            </a:pPr>
            <a:r>
              <a:t>▪ Evaluasi menggunakan batas DIKTI yang tepat per rumpun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05840"/>
            <a:ext cx="5303520" cy="5029200"/>
          </a:xfrm>
          <a:prstGeom prst="roundRect">
            <a:avLst/>
          </a:prstGeom>
          <a:solidFill>
            <a:srgbClr val="25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2A5F5"/>
                </a:solidFill>
                <a:latin typeface="Segoe UI"/>
              </a:defRPr>
            </a:pPr>
            <a:r>
              <a:t>Screenshot Dashboard — Executive Overview</a:t>
            </a:r>
          </a:p>
        </p:txBody>
      </p:sp>
      <p:pic>
        <p:nvPicPr>
          <p:cNvPr id="10" name="Picture 9" descr="Screenshot 2026-07-06 1106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737360"/>
            <a:ext cx="4846320" cy="362467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Segoe UI"/>
              </a:defRPr>
            </a:pPr>
            <a:r>
              <a:t>Fauzi Noorsyabani — 227007042 | Sistem Informasi UNSIL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  <a:latin typeface="Segoe U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54F"/>
                </a:solidFill>
                <a:latin typeface="Segoe UI"/>
              </a:defRPr>
            </a:pPr>
            <a:r>
              <a:t>Poin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91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Analisis Rasio: Rumpun Sains vs Sosial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91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4CAF50"/>
                </a:solidFill>
                <a:latin typeface="Segoe UI"/>
              </a:defRPr>
            </a:pPr>
            <a:r>
              <a:t>✅ SELESAI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5029200" cy="5029200"/>
          </a:xfrm>
          <a:prstGeom prst="roundRect">
            <a:avLst/>
          </a:prstGeom>
          <a:solidFill>
            <a:srgbClr val="25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4572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42A5F5"/>
                </a:solidFill>
                <a:latin typeface="Consolas"/>
              </a:defRPr>
            </a:pPr>
            <a:r>
              <a:t>Perbandingan Rumpun Ilmu:</a:t>
            </a:r>
          </a:p>
          <a:p>
            <a:pPr>
              <a:spcAft>
                <a:spcPts val="400"/>
              </a:spcAft>
              <a:defRPr sz="1100" b="0">
                <a:solidFill>
                  <a:srgbClr val="CCCCCC"/>
                </a:solidFill>
                <a:latin typeface="Consolas"/>
              </a:defRPr>
            </a:pPr>
            <a:r>
              <a:t>(Permendikbud No. 3 Tahun 2020)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200" b="1">
                <a:solidFill>
                  <a:srgbClr val="FFD54F"/>
                </a:solidFill>
                <a:latin typeface="Consolas"/>
              </a:defRPr>
            </a:pPr>
            <a:r>
              <a:t>Rumpun Saintek          │ Batas: 1:30</a:t>
            </a:r>
          </a:p>
          <a:p>
            <a:pPr>
              <a:spcAft>
                <a:spcPts val="400"/>
              </a:spcAft>
              <a:defRPr sz="1200" b="0">
                <a:solidFill>
                  <a:srgbClr val="4CAF50"/>
                </a:solidFill>
                <a:latin typeface="Consolas"/>
              </a:defRPr>
            </a:pPr>
            <a:r>
              <a:t>Rata-rata rasio: 18–22  │ Status: Dalam batas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200" b="1">
                <a:solidFill>
                  <a:srgbClr val="FFD54F"/>
                </a:solidFill>
                <a:latin typeface="Consolas"/>
              </a:defRPr>
            </a:pPr>
            <a:r>
              <a:t>Rumpun Soshum           │ Batas: 1:45</a:t>
            </a:r>
          </a:p>
          <a:p>
            <a:pPr>
              <a:spcAft>
                <a:spcPts val="400"/>
              </a:spcAft>
              <a:defRPr sz="1200" b="0">
                <a:solidFill>
                  <a:srgbClr val="E53935"/>
                </a:solidFill>
                <a:latin typeface="Consolas"/>
              </a:defRPr>
            </a:pPr>
            <a:r>
              <a:t>Rata-rata rasio: 28–35  │ 3 prodi melampaui</a:t>
            </a:r>
          </a:p>
          <a:p>
            <a:pPr>
              <a:spcAft>
                <a:spcPts val="400"/>
              </a:spcAft>
              <a:defRPr sz="800" b="0">
                <a:solidFill>
                  <a:srgbClr val="FFFFFF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E53935"/>
                </a:solidFill>
                <a:latin typeface="Consolas"/>
              </a:defRPr>
            </a:pPr>
            <a:r>
              <a:t>3 Prodi Melampaui Batas Soshum:</a:t>
            </a:r>
          </a:p>
          <a:p>
            <a:pPr>
              <a:spcAft>
                <a:spcPts val="400"/>
              </a:spcAft>
              <a:defRPr sz="1300" b="0">
                <a:solidFill>
                  <a:srgbClr val="E53935"/>
                </a:solidFill>
                <a:latin typeface="Consolas"/>
              </a:defRPr>
            </a:pPr>
            <a:r>
              <a:t>  Pend. Sejarah     │ 1:54,0  🔴</a:t>
            </a:r>
          </a:p>
          <a:p>
            <a:pPr>
              <a:spcAft>
                <a:spcPts val="400"/>
              </a:spcAft>
              <a:defRPr sz="1300" b="0">
                <a:solidFill>
                  <a:srgbClr val="E53935"/>
                </a:solidFill>
                <a:latin typeface="Consolas"/>
              </a:defRPr>
            </a:pPr>
            <a:r>
              <a:t>  Pend. Masyarakat  │ 1:50,9  🔴</a:t>
            </a:r>
          </a:p>
          <a:p>
            <a:pPr>
              <a:spcAft>
                <a:spcPts val="400"/>
              </a:spcAft>
              <a:defRPr sz="1300" b="0">
                <a:solidFill>
                  <a:srgbClr val="E53935"/>
                </a:solidFill>
                <a:latin typeface="Consolas"/>
              </a:defRPr>
            </a:pPr>
            <a:r>
              <a:t>  Akuntansi         │ 1:45,7  🔴</a:t>
            </a:r>
          </a:p>
          <a:p>
            <a:pPr>
              <a:spcAft>
                <a:spcPts val="400"/>
              </a:spcAft>
              <a:defRPr sz="800" b="0">
                <a:solidFill>
                  <a:srgbClr val="FFFFFF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42A5F5"/>
                </a:solidFill>
                <a:latin typeface="Consolas"/>
              </a:defRPr>
            </a:pPr>
            <a:r>
              <a:t>Temuan Kunci: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Beban dosen prodi Soshum rata-rata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lebih tinggi daripada prodi Saintek.</a:t>
            </a:r>
          </a:p>
          <a:p>
            <a:pPr>
              <a:spcAft>
                <a:spcPts val="400"/>
              </a:spcAft>
              <a:defRPr sz="1200" b="0">
                <a:solidFill>
                  <a:srgbClr val="FF9800"/>
                </a:solidFill>
                <a:latin typeface="Consolas"/>
              </a:defRPr>
            </a:pPr>
            <a:r>
              <a:t>Tiga prodi kritis semuanya rumpun Sosial.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1005840"/>
            <a:ext cx="5760720" cy="5029200"/>
          </a:xfrm>
          <a:prstGeom prst="roundRect">
            <a:avLst/>
          </a:prstGeom>
          <a:solidFill>
            <a:srgbClr val="25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2A5F5"/>
                </a:solidFill>
                <a:latin typeface="Segoe UI"/>
              </a:defRPr>
            </a:pPr>
            <a:r>
              <a:t>Grafik Tren Rasio Sains vs Sosial</a:t>
            </a:r>
          </a:p>
        </p:txBody>
      </p:sp>
      <p:pic>
        <p:nvPicPr>
          <p:cNvPr id="10" name="Picture 9" descr="line_tren_sains_vs_sos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737360"/>
            <a:ext cx="5303520" cy="31599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Segoe UI"/>
              </a:defRPr>
            </a:pPr>
            <a:r>
              <a:t>Fauzi Noorsyabani — 227007042 | Sistem Informasi UNSIL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  <a:latin typeface="Segoe U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54F"/>
                </a:solidFill>
                <a:latin typeface="Segoe UI"/>
              </a:defRPr>
            </a:pPr>
            <a:r>
              <a:t>Poin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91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Keterbatasan Penelitian &amp; Saran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91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4CAF50"/>
                </a:solidFill>
                <a:latin typeface="Segoe UI"/>
              </a:defRPr>
            </a:pPr>
            <a:r>
              <a:t>✅ SELESAI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5303520" cy="5029200"/>
          </a:xfrm>
          <a:prstGeom prst="roundRect">
            <a:avLst/>
          </a:prstGeom>
          <a:solidFill>
            <a:srgbClr val="25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4846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E53935"/>
                </a:solidFill>
                <a:latin typeface="Segoe UI"/>
              </a:defRPr>
            </a:pPr>
            <a:r>
              <a:t>KETERBATASAN PENELITIAN</a:t>
            </a:r>
          </a:p>
          <a:p>
            <a:pPr>
              <a:spcAft>
                <a:spcPts val="400"/>
              </a:spcAft>
              <a:defRPr sz="8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FFD54F"/>
                </a:solidFill>
                <a:latin typeface="Segoe UI"/>
              </a:defRPr>
            </a:pPr>
            <a:r>
              <a:t>1. Data Agregat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   Data bersumber dari PDDikti format agregat,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   tidak mencakup data individu dosen/mahasiswa.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FFD54F"/>
                </a:solidFill>
                <a:latin typeface="Segoe UI"/>
              </a:defRPr>
            </a:pPr>
            <a:r>
              <a:t>2. Belum Real-Time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   Pipeline ETL masih berbasis web scraping berkala,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   belum terhubung langsung ke API PDDikti.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FFD54F"/>
                </a:solidFill>
                <a:latin typeface="Segoe UI"/>
              </a:defRPr>
            </a:pPr>
            <a:r>
              <a:t>3. Fokus Terbatas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   Hanya menganalisis rasio dosen-mahasiswa,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   belum mencakup kualifikasi/jabatan dosen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   maupun beban kerja non-teaching.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05840"/>
            <a:ext cx="5303520" cy="5029200"/>
          </a:xfrm>
          <a:prstGeom prst="roundRect">
            <a:avLst/>
          </a:prstGeom>
          <a:solidFill>
            <a:srgbClr val="25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188720"/>
            <a:ext cx="4846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4CAF50"/>
                </a:solidFill>
                <a:latin typeface="Segoe UI"/>
              </a:defRPr>
            </a:pPr>
            <a:r>
              <a:t>SARAN PENELITIAN SELANJUTNYA</a:t>
            </a:r>
          </a:p>
          <a:p>
            <a:pPr>
              <a:spcAft>
                <a:spcPts val="400"/>
              </a:spcAft>
              <a:defRPr sz="8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1. Perluas cakupan ke PTN BLU lain</a:t>
            </a:r>
          </a:p>
          <a:p>
            <a:pPr>
              <a:spcAft>
                <a:spcPts val="400"/>
              </a:spcAft>
              <a:defRPr sz="1100" b="0">
                <a:solidFill>
                  <a:srgbClr val="CCCCCC"/>
                </a:solidFill>
                <a:latin typeface="Segoe UI"/>
              </a:defRPr>
            </a:pPr>
            <a:r>
              <a:t>   untuk benchmarking antarinstitusi</a:t>
            </a:r>
          </a:p>
          <a:p>
            <a:pPr>
              <a:spcAft>
                <a:spcPts val="400"/>
              </a:spcAft>
              <a:defRPr sz="4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2. Tambahkan variabel BKD, kualifikasi</a:t>
            </a:r>
          </a:p>
          <a:p>
            <a:pPr>
              <a:spcAft>
                <a:spcPts val="400"/>
              </a:spcAft>
              <a:defRPr sz="1100" b="0">
                <a:solidFill>
                  <a:srgbClr val="CCCCCC"/>
                </a:solidFill>
                <a:latin typeface="Segoe UI"/>
              </a:defRPr>
            </a:pPr>
            <a:r>
              <a:t>   akademik, dan jabatan fungsional</a:t>
            </a:r>
          </a:p>
          <a:p>
            <a:pPr>
              <a:spcAft>
                <a:spcPts val="400"/>
              </a:spcAft>
              <a:defRPr sz="4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3. Kembangkan modul prediktif</a:t>
            </a:r>
          </a:p>
          <a:p>
            <a:pPr>
              <a:spcAft>
                <a:spcPts val="400"/>
              </a:spcAft>
              <a:defRPr sz="1100" b="0">
                <a:solidFill>
                  <a:srgbClr val="CCCCCC"/>
                </a:solidFill>
                <a:latin typeface="Segoe UI"/>
              </a:defRPr>
            </a:pPr>
            <a:r>
              <a:t>   untuk proyeksi kebutuhan dosen</a:t>
            </a:r>
          </a:p>
          <a:p>
            <a:pPr>
              <a:spcAft>
                <a:spcPts val="400"/>
              </a:spcAft>
              <a:defRPr sz="4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4. Otomasi pipeline ETL → API PDDikti</a:t>
            </a:r>
          </a:p>
          <a:p>
            <a:pPr>
              <a:spcAft>
                <a:spcPts val="400"/>
              </a:spcAft>
              <a:defRPr sz="1100" b="0">
                <a:solidFill>
                  <a:srgbClr val="CCCCCC"/>
                </a:solidFill>
                <a:latin typeface="Segoe UI"/>
              </a:defRPr>
            </a:pPr>
            <a:r>
              <a:t>   untuk pembaruan data real-time</a:t>
            </a:r>
          </a:p>
          <a:p>
            <a:pPr>
              <a:spcAft>
                <a:spcPts val="400"/>
              </a:spcAft>
              <a:defRPr sz="4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5. User Acceptance Testing (UAT)</a:t>
            </a:r>
          </a:p>
          <a:p>
            <a:pPr>
              <a:spcAft>
                <a:spcPts val="400"/>
              </a:spcAft>
              <a:defRPr sz="1100" b="0">
                <a:solidFill>
                  <a:srgbClr val="CCCCCC"/>
                </a:solidFill>
                <a:latin typeface="Segoe UI"/>
              </a:defRPr>
            </a:pPr>
            <a:r>
              <a:t>   kepada pemangku kepentingan</a:t>
            </a:r>
          </a:p>
          <a:p>
            <a:pPr>
              <a:spcAft>
                <a:spcPts val="400"/>
              </a:spcAft>
              <a:defRPr sz="4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6. Notifikasi otomatis saat rasio</a:t>
            </a:r>
          </a:p>
          <a:p>
            <a:pPr>
              <a:spcAft>
                <a:spcPts val="400"/>
              </a:spcAft>
              <a:defRPr sz="1100" b="0">
                <a:solidFill>
                  <a:srgbClr val="CCCCCC"/>
                </a:solidFill>
                <a:latin typeface="Segoe UI"/>
              </a:defRPr>
            </a:pPr>
            <a:r>
              <a:t>   mendekati/melampaui batas DIKTI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Segoe UI"/>
              </a:defRPr>
            </a:pPr>
            <a:r>
              <a:t>Fauzi Noorsyabani — 227007042 | Sistem Informasi UNSIL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  <a:latin typeface="Segoe U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Bukti Hasil: Dashboard — Halaman Executive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4 KPI Scorecard + Grafik Rasio Institusi + Filter Fakultas/Rumpun Ilmu</a:t>
            </a:r>
          </a:p>
        </p:txBody>
      </p:sp>
      <p:pic>
        <p:nvPicPr>
          <p:cNvPr id="5" name="Picture 4" descr="Screenshot 2026-07-06 1106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05840"/>
            <a:ext cx="10515600" cy="78648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D54F"/>
                </a:solidFill>
                <a:latin typeface="Segoe UI"/>
              </a:defRPr>
            </a:pPr>
            <a:r>
              <a:t>💡 Rata-rata rasio institusi 22,8–24,9 (aman), namun tersimpan disparitas pada level program studi.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Segoe UI"/>
              </a:defRPr>
            </a:pPr>
            <a:r>
              <a:t>Fauzi Noorsyabani — 227007042 | Sistem Informasi UNSIL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  <a:latin typeface="Segoe U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Bukti Hasil: Dashboard — Halaman 2 &amp;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914400"/>
            <a:ext cx="5669280" cy="5303520"/>
          </a:xfrm>
          <a:prstGeom prst="roundRect">
            <a:avLst/>
          </a:prstGeom>
          <a:solidFill>
            <a:srgbClr val="25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2A5F5"/>
                </a:solidFill>
                <a:latin typeface="Segoe UI"/>
              </a:defRPr>
            </a:pPr>
            <a:r>
              <a:t>Halaman 2: Analisis Detail Per Program Studi</a:t>
            </a:r>
          </a:p>
        </p:txBody>
      </p:sp>
      <p:pic>
        <p:nvPicPr>
          <p:cNvPr id="6" name="Picture 5" descr="Screenshot 2026-07-06 1107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5303520" cy="401967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217920" y="914400"/>
            <a:ext cx="5669280" cy="5303520"/>
          </a:xfrm>
          <a:prstGeom prst="roundRect">
            <a:avLst/>
          </a:prstGeom>
          <a:solidFill>
            <a:srgbClr val="25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0058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2A5F5"/>
                </a:solidFill>
                <a:latin typeface="Segoe UI"/>
              </a:defRPr>
            </a:pPr>
            <a:r>
              <a:t>Halaman 3: Tren Longitudinal &amp; Monitoring</a:t>
            </a:r>
          </a:p>
        </p:txBody>
      </p:sp>
      <p:pic>
        <p:nvPicPr>
          <p:cNvPr id="9" name="Picture 8" descr="Screenshot 2026-07-06 1107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463040"/>
            <a:ext cx="5303520" cy="398715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Segoe UI"/>
              </a:defRPr>
            </a:pPr>
            <a:r>
              <a:t>Fauzi Noorsyabani — 227007042 | Sistem Informasi UNSIL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  <a:latin typeface="Segoe U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Bukti Hasil: Heatmap Rasio per Program Studi × Semester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Merah = Melampaui Batas | Kuning = Zona Waspada | Hijau = Aman</a:t>
            </a:r>
          </a:p>
        </p:txBody>
      </p:sp>
      <p:pic>
        <p:nvPicPr>
          <p:cNvPr id="5" name="Picture 4" descr="heatmap_prodi_seme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7315200" cy="5303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29600" y="914400"/>
            <a:ext cx="3474720" cy="5303520"/>
          </a:xfrm>
          <a:prstGeom prst="roundRect">
            <a:avLst/>
          </a:prstGeom>
          <a:solidFill>
            <a:srgbClr val="25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1097280"/>
            <a:ext cx="31089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42A5F5"/>
                </a:solidFill>
                <a:latin typeface="Segoe UI"/>
              </a:defRPr>
            </a:pPr>
            <a:r>
              <a:t>LEGENDA &amp; TEMUAN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E53935"/>
                </a:solidFill>
                <a:latin typeface="Segoe UI"/>
              </a:defRPr>
            </a:pPr>
            <a:r>
              <a:t>🔴 Melampaui Batas</a:t>
            </a:r>
          </a:p>
          <a:p>
            <a:pPr>
              <a:spcAft>
                <a:spcPts val="400"/>
              </a:spcAft>
              <a:defRPr sz="1100" b="0">
                <a:solidFill>
                  <a:srgbClr val="E53935"/>
                </a:solidFill>
                <a:latin typeface="Segoe UI"/>
              </a:defRPr>
            </a:pPr>
            <a:r>
              <a:t>Pend. Sejarah: 1:54,0</a:t>
            </a:r>
          </a:p>
          <a:p>
            <a:pPr>
              <a:spcAft>
                <a:spcPts val="400"/>
              </a:spcAft>
              <a:defRPr sz="1100" b="0">
                <a:solidFill>
                  <a:srgbClr val="E53935"/>
                </a:solidFill>
                <a:latin typeface="Segoe UI"/>
              </a:defRPr>
            </a:pPr>
            <a:r>
              <a:t>Pend. Masyarakat: 1:50,9</a:t>
            </a:r>
          </a:p>
          <a:p>
            <a:pPr>
              <a:spcAft>
                <a:spcPts val="400"/>
              </a:spcAft>
              <a:defRPr sz="1100" b="0">
                <a:solidFill>
                  <a:srgbClr val="E53935"/>
                </a:solidFill>
                <a:latin typeface="Segoe UI"/>
              </a:defRPr>
            </a:pPr>
            <a:r>
              <a:t>Akuntansi: 1:45,7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FF9800"/>
                </a:solidFill>
                <a:latin typeface="Segoe UI"/>
              </a:defRPr>
            </a:pPr>
            <a:r>
              <a:t>🟡 Zona Waspada (35–45)</a:t>
            </a:r>
          </a:p>
          <a:p>
            <a:pPr>
              <a:spcAft>
                <a:spcPts val="400"/>
              </a:spcAft>
              <a:defRPr sz="1100" b="0">
                <a:solidFill>
                  <a:srgbClr val="FF9800"/>
                </a:solidFill>
                <a:latin typeface="Segoe UI"/>
              </a:defRPr>
            </a:pPr>
            <a:r>
              <a:t>Ilmu Politik: 1:44,0</a:t>
            </a:r>
          </a:p>
          <a:p>
            <a:pPr>
              <a:spcAft>
                <a:spcPts val="400"/>
              </a:spcAft>
              <a:defRPr sz="1100" b="0">
                <a:solidFill>
                  <a:srgbClr val="FF9800"/>
                </a:solidFill>
                <a:latin typeface="Segoe UI"/>
              </a:defRPr>
            </a:pPr>
            <a:r>
              <a:t>Pend. Ekonomi: 1:42,2</a:t>
            </a:r>
          </a:p>
          <a:p>
            <a:pPr>
              <a:spcAft>
                <a:spcPts val="400"/>
              </a:spcAft>
              <a:defRPr sz="1100" b="0">
                <a:solidFill>
                  <a:srgbClr val="FF9800"/>
                </a:solidFill>
                <a:latin typeface="Segoe UI"/>
              </a:defRPr>
            </a:pPr>
            <a:r>
              <a:t>+ 4 prodi lainnya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4CAF50"/>
                </a:solidFill>
                <a:latin typeface="Segoe UI"/>
              </a:defRPr>
            </a:pPr>
            <a:r>
              <a:t>🟢 Aman (&lt;30)</a:t>
            </a:r>
          </a:p>
          <a:p>
            <a:pPr>
              <a:spcAft>
                <a:spcPts val="400"/>
              </a:spcAft>
              <a:defRPr sz="1100" b="0">
                <a:solidFill>
                  <a:srgbClr val="4CAF50"/>
                </a:solidFill>
                <a:latin typeface="Segoe UI"/>
              </a:defRPr>
            </a:pPr>
            <a:r>
              <a:t>Mayoritas prodi Saintek</a:t>
            </a:r>
          </a:p>
          <a:p>
            <a:pPr>
              <a:spcAft>
                <a:spcPts val="400"/>
              </a:spcAft>
              <a:defRPr sz="1100" b="0">
                <a:solidFill>
                  <a:srgbClr val="4CAF50"/>
                </a:solidFill>
                <a:latin typeface="Segoe UI"/>
              </a:defRPr>
            </a:pPr>
            <a:r>
              <a:t>&amp; prodi baru/pascasarjana</a:t>
            </a:r>
          </a:p>
          <a:p>
            <a:pPr>
              <a:spcAft>
                <a:spcPts val="400"/>
              </a:spcAft>
              <a:defRPr sz="8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200" b="1">
                <a:solidFill>
                  <a:srgbClr val="FFD54F"/>
                </a:solidFill>
                <a:latin typeface="Segoe UI"/>
              </a:defRPr>
            </a:pPr>
            <a:r>
              <a:t>Pend. Masyarakat:</a:t>
            </a:r>
          </a:p>
          <a:p>
            <a:pPr>
              <a:spcAft>
                <a:spcPts val="400"/>
              </a:spcAft>
              <a:defRPr sz="1100" b="0">
                <a:solidFill>
                  <a:srgbClr val="E53935"/>
                </a:solidFill>
                <a:latin typeface="Segoe UI"/>
              </a:defRPr>
            </a:pPr>
            <a:r>
              <a:t>Konsisten &gt;45 di 3/5 periode</a:t>
            </a:r>
          </a:p>
          <a:p>
            <a:pPr>
              <a:spcAft>
                <a:spcPts val="400"/>
              </a:spcAft>
              <a:defRPr sz="1100" b="0">
                <a:solidFill>
                  <a:srgbClr val="E53935"/>
                </a:solidFill>
                <a:latin typeface="Segoe UI"/>
              </a:defRPr>
            </a:pPr>
            <a:r>
              <a:t>→ Masalah struktural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Segoe UI"/>
              </a:defRPr>
            </a:pPr>
            <a:r>
              <a:t>Fauzi Noorsyabani — 227007042 | Sistem Informasi UNSIL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  <a:latin typeface="Segoe U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Bukti Hasil: Perbandingan Rasio &amp; Tren Prodi Ekstrem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914400"/>
            <a:ext cx="5669280" cy="5303520"/>
          </a:xfrm>
          <a:prstGeom prst="roundRect">
            <a:avLst/>
          </a:prstGeom>
          <a:solidFill>
            <a:srgbClr val="25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2A5F5"/>
                </a:solidFill>
                <a:latin typeface="Segoe UI"/>
              </a:defRPr>
            </a:pPr>
            <a:r>
              <a:t>Perbandingan Rasio per Prodi — Ganjil 2025</a:t>
            </a:r>
          </a:p>
        </p:txBody>
      </p:sp>
      <p:pic>
        <p:nvPicPr>
          <p:cNvPr id="6" name="Picture 5" descr="bar_rasio_prodi_terbar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303520" cy="576905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217920" y="914400"/>
            <a:ext cx="5669280" cy="5303520"/>
          </a:xfrm>
          <a:prstGeom prst="roundRect">
            <a:avLst/>
          </a:prstGeom>
          <a:solidFill>
            <a:srgbClr val="25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0058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2A5F5"/>
                </a:solidFill>
                <a:latin typeface="Segoe UI"/>
              </a:defRPr>
            </a:pPr>
            <a:r>
              <a:t>Tren 5 Prodi Tertinggi vs 5 Terendah</a:t>
            </a:r>
          </a:p>
        </p:txBody>
      </p:sp>
      <p:pic>
        <p:nvPicPr>
          <p:cNvPr id="9" name="Picture 8" descr="line_tren_top5_bot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371600"/>
            <a:ext cx="5303520" cy="197905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Segoe UI"/>
              </a:defRPr>
            </a:pPr>
            <a:r>
              <a:t>Fauzi Noorsyabani — 227007042 | Sistem Informasi UNSIL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  <a:latin typeface="Segoe U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SIDANG AKHIR TUGAS AKHIR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D54F"/>
                </a:solidFill>
                <a:latin typeface="Segoe UI"/>
              </a:defRPr>
            </a:pPr>
            <a:r>
              <a:t>Terima Kasih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42A5F5"/>
                </a:solidFill>
                <a:latin typeface="Segoe UI"/>
              </a:defRPr>
            </a:pPr>
            <a:r>
              <a:t>Fauzi Noorsyabani — 227007042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  <a:latin typeface="Segoe UI"/>
              </a:defRPr>
            </a:pPr>
            <a:r>
              <a:t>Program Studi Sistem Informasi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  <a:latin typeface="Segoe UI"/>
              </a:defRPr>
            </a:pPr>
            <a:r>
              <a:t>Fakultas Teknik — Universitas Siliwangi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CCCCCC"/>
                </a:solidFill>
                <a:latin typeface="Segoe UI"/>
              </a:defRPr>
            </a:pPr>
            <a:r>
              <a:t>Pembimbing I : Dr. Ir. Acep Irham Gufroni, S.Kom., M.Eng., IPM., ASEAN Eng.</a:t>
            </a:r>
          </a:p>
          <a:p>
            <a:pPr>
              <a:spcAft>
                <a:spcPts val="400"/>
              </a:spcAft>
              <a:defRPr sz="1300" b="0">
                <a:solidFill>
                  <a:srgbClr val="CCCCCC"/>
                </a:solidFill>
                <a:latin typeface="Segoe UI"/>
              </a:defRPr>
            </a:pPr>
            <a:r>
              <a:t>Pembimbing II: Ir. Andi Nur Rachman, M.T.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FFD54F"/>
                </a:solidFill>
                <a:latin typeface="Segoe UI"/>
              </a:defRPr>
            </a:pPr>
            <a:r>
              <a:t>"Satu-satunya cara melakukan pekerjaan hebat</a:t>
            </a:r>
          </a:p>
          <a:p>
            <a:pPr>
              <a:spcAft>
                <a:spcPts val="400"/>
              </a:spcAft>
              <a:defRPr sz="1400" b="0">
                <a:solidFill>
                  <a:srgbClr val="FFD54F"/>
                </a:solidFill>
                <a:latin typeface="Segoe UI"/>
              </a:defRPr>
            </a:pPr>
            <a:r>
              <a:t> adalah dengan mencintai apa yang Anda lakukan."</a:t>
            </a:r>
          </a:p>
          <a:p>
            <a:pPr>
              <a:spcAft>
                <a:spcPts val="400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t>— Steve Jobs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Segoe UI"/>
              </a:defRPr>
            </a:pPr>
            <a:r>
              <a:t>Fauzi Noorsyabani — 227007042 | Sistem Informasi UNSIL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  <a:latin typeface="Segoe U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